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615f21e97a4b61" /><Relationship Type="http://schemas.openxmlformats.org/officeDocument/2006/relationships/extended-properties" Target="/docProps/app.xml" Id="Ra38dac32812641e7" /><Relationship Type="http://schemas.openxmlformats.org/officeDocument/2006/relationships/officeDocument" Target="/ppt/presentation.xml" Id="R1a36abc4e7b94692" /></Relationships>
</file>

<file path=ppt/presentation.xml><?xml version="1.0" encoding="utf-8"?>
<p:presentation xmlns:p="http://schemas.openxmlformats.org/presentationml/2006/main">
  <p:sldMasterIdLst>
    <p:sldMasterId xmlns:r="http://schemas.openxmlformats.org/officeDocument/2006/relationships" id="2147483648" r:id="R36e93675c1394e2c"/>
  </p:sldMasterIdLst>
  <p:notesMasterIdLst>
    <p:notesMasterId xmlns:r="http://schemas.openxmlformats.org/officeDocument/2006/relationships" r:id="Ra541d66aac8549eb"/>
  </p:notesMasterIdLst>
  <p:sldIdLst>
    <p:sldId xmlns:r="http://schemas.openxmlformats.org/officeDocument/2006/relationships" id="256" r:id="Rcca3299666534fb8"/>
    <p:sldId xmlns:r="http://schemas.openxmlformats.org/officeDocument/2006/relationships" id="257" r:id="R663e073248f84f59"/>
    <p:sldId xmlns:r="http://schemas.openxmlformats.org/officeDocument/2006/relationships" id="258" r:id="R388b2f9c21c3428d"/>
    <p:sldId xmlns:r="http://schemas.openxmlformats.org/officeDocument/2006/relationships" id="259" r:id="Rceb25a4d95304c52"/>
    <p:sldId xmlns:r="http://schemas.openxmlformats.org/officeDocument/2006/relationships" id="260" r:id="R8f571ec811b747b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33b6c241d143a6" /><Relationship Type="http://schemas.openxmlformats.org/officeDocument/2006/relationships/slideMaster" Target="/ppt/slideMasters/slideMaster1.xml" Id="R36e93675c1394e2c" /><Relationship Type="http://schemas.openxmlformats.org/officeDocument/2006/relationships/notesMaster" Target="/ppt/notesMasters/notesMaster1.xml" Id="Ra541d66aac8549eb" /><Relationship Type="http://schemas.openxmlformats.org/officeDocument/2006/relationships/presProps" Target="/ppt/presProps.xml" Id="Ra81cc59f9c744b5e" /><Relationship Type="http://schemas.openxmlformats.org/officeDocument/2006/relationships/tableStyles" Target="/ppt/tableStyles.xml" Id="Raa34ef1ff17140db" /><Relationship Type="http://schemas.openxmlformats.org/officeDocument/2006/relationships/slide" Target="/ppt/slides/slide1.xml" Id="Rcca3299666534fb8" /><Relationship Type="http://schemas.openxmlformats.org/officeDocument/2006/relationships/slide" Target="/ppt/slides/slide2.xml" Id="R663e073248f84f59" /><Relationship Type="http://schemas.openxmlformats.org/officeDocument/2006/relationships/slide" Target="/ppt/slides/slide3.xml" Id="R388b2f9c21c3428d" /><Relationship Type="http://schemas.openxmlformats.org/officeDocument/2006/relationships/slide" Target="/ppt/slides/slide4.xml" Id="Rceb25a4d95304c52" /><Relationship Type="http://schemas.openxmlformats.org/officeDocument/2006/relationships/slide" Target="/ppt/slides/slide5.xml" Id="R8f571ec811b747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fb17d0727b4a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8191fac5064e4e" /><Relationship Type="http://schemas.openxmlformats.org/officeDocument/2006/relationships/notesMaster" Target="/ppt/notesMasters/notesMaster1.xml" Id="R9d03c9657407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a0644e8b244fdf" /><Relationship Type="http://schemas.openxmlformats.org/officeDocument/2006/relationships/notesMaster" Target="/ppt/notesMasters/notesMaster1.xml" Id="R38ddb0e42a5545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8d171b90104c99" /><Relationship Type="http://schemas.openxmlformats.org/officeDocument/2006/relationships/notesMaster" Target="/ppt/notesMasters/notesMaster1.xml" Id="R1c366f74d92b4d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d1446670ba47e8" /><Relationship Type="http://schemas.openxmlformats.org/officeDocument/2006/relationships/notesMaster" Target="/ppt/notesMasters/notesMaster1.xml" Id="Ree9098c52ec446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5b4afd2a954745" /><Relationship Type="http://schemas.openxmlformats.org/officeDocument/2006/relationships/notesMaster" Target="/ppt/notesMasters/notesMaster1.xml" Id="R62a23e2796564f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Onside is a trustless football prediction market built on Solana. Fans can bet on match outcomes, goals, cards, corners, and same-match combinations—but no administrator gets to decide the winner. Every result is verified using cryptographic data from TxODDS.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markets promise transparency, but settlement often introduces interpretation again. A proposer declares an outcome, others may challenge it, and disputed cases can end in a vote. Users can inspect the final transaction, but they still depend on people agreeing about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Onside gives fans a familiar sportsbook experience. They connect a wallet, choose YES or NO across markets, and can combine outcomes into one same-match ticket. Individual markets use shared parimutuel pools, so users do not need to find a direct counterparty. Their stake joins the pool, and winners share the payout.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the match finishes, TxODDS supplies the final score and Merkle proof. The keeper submits that proof to Onside. The Onside program calls the TxODDS oracle program, verifies the value against the on-chain root, and derives the winner from the market predicate. The keeper can submit proof, but it cannot invent a score or select an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Onside is already deployed end-to-end on Solana devnet: a working consumer interface, shared parimutuel pools, permissionless proof submission, and public settlement receipts. It turns TxODDS verified sports data into a prediction market that fans can understand and anyone can audit. Onside: the result is proven, not trusted.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6a0221e16343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1433a2f0334107" /><Relationship Type="http://schemas.openxmlformats.org/officeDocument/2006/relationships/slideLayout" Target="/ppt/slideLayouts/slideLayout1.xml" Id="Rf5b9c44f582b4f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b9c44f582b4f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66c68344f94f3a" /><Relationship Type="http://schemas.openxmlformats.org/officeDocument/2006/relationships/notesSlide" Target="/ppt/notesSlides/notesSlide1.xml" Id="Re52f724e737945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6f2c04e1634e97" /><Relationship Type="http://schemas.openxmlformats.org/officeDocument/2006/relationships/notesSlide" Target="/ppt/notesSlides/notesSlide2.xml" Id="Rf4a1a9f2852a40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35d083c2684218" /><Relationship Type="http://schemas.openxmlformats.org/officeDocument/2006/relationships/image" Target="/ppt/media/image.png" Id="Rb0c7fb5124814dac" /><Relationship Type="http://schemas.openxmlformats.org/officeDocument/2006/relationships/notesSlide" Target="/ppt/notesSlides/notesSlide3.xml" Id="R7ff469d984614b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7bd090c82f43c7" /><Relationship Type="http://schemas.openxmlformats.org/officeDocument/2006/relationships/notesSlide" Target="/ppt/notesSlides/notesSlide4.xml" Id="R3e9ef2025a824e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f9e61356ef42d4" /><Relationship Type="http://schemas.openxmlformats.org/officeDocument/2006/relationships/notesSlide" Target="/ppt/notesSlides/notesSlide5.xml" Id="Rd885960e6fef4ff2"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8695F0-079B-41AE-9333-BD548C22B58F}"/>
              </a:ext>
            </a:extLst>
          </p:cNvPr>
          <p:cNvSpPr>
            <a:spLocks xmlns:a="http://schemas.openxmlformats.org/drawingml/2006/main" noGrp="1"/>
          </p:cNvSpPr>
          <p:nvPr/>
        </p:nvSpPr>
        <p:spPr>
          <a:xfrm xmlns:a="http://schemas.openxmlformats.org/drawingml/2006/main">
            <a:off x="685800" y="552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4F8CFF"/>
                </a:solidFill>
                <a:latin typeface="Space Grotesk"/>
                <a:ea typeface="Space Grotesk"/>
                <a:cs typeface="Space Grotesk"/>
              </a:defRPr>
            </a:pPr>
            <a:r>
              <a:rPr sz="1200" b="1">
                <a:solidFill>
                  <a:srgbClr val="4F8CFF"/>
                </a:solidFill>
                <a:latin typeface="Space Grotesk"/>
                <a:ea typeface="Space Grotesk"/>
                <a:cs typeface="Space Grotesk"/>
              </a:rPr>
              <a:t>TXODDS WORLD CUP HACKATHON</a:t>
            </a:r>
          </a:p>
        </p:txBody>
      </p:sp>
      <p:sp>
        <p:nvSpPr>
          <p:cNvPr id="2" name="">
            <a:extLst xmlns:a="http://schemas.openxmlformats.org/drawingml/2006/main">
              <a:ext uri="{FF2B5EF4-FFF2-40B4-BE49-F238E27FC236}">
                <a16:creationId xmlns:a16="http://schemas.microsoft.com/office/drawing/2014/main" id="{C717A663-117B-48EB-9EE5-EF6F56A89C20}"/>
              </a:ext>
            </a:extLst>
          </p:cNvPr>
          <p:cNvSpPr>
            <a:spLocks xmlns:a="http://schemas.openxmlformats.org/drawingml/2006/main" noGrp="1"/>
          </p:cNvSpPr>
          <p:nvPr/>
        </p:nvSpPr>
        <p:spPr>
          <a:xfrm xmlns:a="http://schemas.openxmlformats.org/drawingml/2006/main">
            <a:off x="685800" y="1676400"/>
            <a:ext cx="7239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700" b="1">
                <a:solidFill>
                  <a:srgbClr val="F4F7FF"/>
                </a:solidFill>
                <a:latin typeface="Space Grotesk"/>
                <a:ea typeface="Space Grotesk"/>
                <a:cs typeface="Space Grotesk"/>
              </a:defRPr>
            </a:pPr>
            <a:r>
              <a:rPr sz="5700" b="1">
                <a:solidFill>
                  <a:srgbClr val="F4F7FF"/>
                </a:solidFill>
                <a:latin typeface="Space Grotesk"/>
                <a:ea typeface="Space Grotesk"/>
                <a:cs typeface="Space Grotesk"/>
              </a:rPr>
              <a:t>Onside</a:t>
            </a:r>
          </a:p>
        </p:txBody>
      </p:sp>
      <p:sp>
        <p:nvSpPr>
          <p:cNvPr id="3" name="">
            <a:extLst xmlns:a="http://schemas.openxmlformats.org/drawingml/2006/main">
              <a:ext uri="{FF2B5EF4-FFF2-40B4-BE49-F238E27FC236}">
                <a16:creationId xmlns:a16="http://schemas.microsoft.com/office/drawing/2014/main" id="{A6F47D05-1872-4AFD-AFB1-B53C84104D2F}"/>
              </a:ext>
            </a:extLst>
          </p:cNvPr>
          <p:cNvSpPr>
            <a:spLocks xmlns:a="http://schemas.openxmlformats.org/drawingml/2006/main" noGrp="1"/>
          </p:cNvSpPr>
          <p:nvPr/>
        </p:nvSpPr>
        <p:spPr>
          <a:xfrm xmlns:a="http://schemas.openxmlformats.org/drawingml/2006/main">
            <a:off x="685800" y="2743200"/>
            <a:ext cx="8382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AAB5CF"/>
                </a:solidFill>
                <a:latin typeface="Space Grotesk"/>
                <a:ea typeface="Space Grotesk"/>
                <a:cs typeface="Space Grotesk"/>
              </a:defRPr>
            </a:pPr>
            <a:r>
              <a:rPr sz="3450" b="1">
                <a:solidFill>
                  <a:srgbClr val="AAB5CF"/>
                </a:solidFill>
                <a:latin typeface="Space Grotesk"/>
                <a:ea typeface="Space Grotesk"/>
                <a:cs typeface="Space Grotesk"/>
              </a:rPr>
              <a:t>Football markets settled by proof,</a:t>
            </a:r>
          </a:p>
          <a:p xmlns:a="http://schemas.openxmlformats.org/drawingml/2006/main">
            <a:pPr algn="l">
              <a:defRPr sz="3450" b="1">
                <a:solidFill>
                  <a:srgbClr val="AAB5CF"/>
                </a:solidFill>
                <a:latin typeface="Space Grotesk"/>
                <a:ea typeface="Space Grotesk"/>
                <a:cs typeface="Space Grotesk"/>
              </a:defRPr>
            </a:pPr>
            <a:r>
              <a:rPr sz="3450" b="1">
                <a:solidFill>
                  <a:srgbClr val="AAB5CF"/>
                </a:solidFill>
                <a:latin typeface="Space Grotesk"/>
                <a:ea typeface="Space Grotesk"/>
                <a:cs typeface="Space Grotesk"/>
              </a:rPr>
              <a:t>not opinion.</a:t>
            </a:r>
          </a:p>
        </p:txBody>
      </p:sp>
      <p:sp>
        <p:nvSpPr>
          <p:cNvPr id="4" name="">
            <a:extLst xmlns:a="http://schemas.openxmlformats.org/drawingml/2006/main">
              <a:ext uri="{FF2B5EF4-FFF2-40B4-BE49-F238E27FC236}">
                <a16:creationId xmlns:a16="http://schemas.microsoft.com/office/drawing/2014/main" id="{1B60640B-B47C-41FF-900D-BAF3B7852F8B}"/>
              </a:ext>
            </a:extLst>
          </p:cNvPr>
          <p:cNvSpPr>
            <a:spLocks xmlns:a="http://schemas.openxmlformats.org/drawingml/2006/main" noGrp="1"/>
          </p:cNvSpPr>
          <p:nvPr/>
        </p:nvSpPr>
        <p:spPr>
          <a:xfrm xmlns:a="http://schemas.openxmlformats.org/drawingml/2006/main">
            <a:off x="685800" y="4362450"/>
            <a:ext cx="1066800" cy="57150"/>
          </a:xfrm>
          <a:prstGeom xmlns:a="http://schemas.openxmlformats.org/drawingml/2006/main" prst="rect">
            <a:avLst/>
          </a:prstGeom>
          <a:solidFill xmlns:a="http://schemas.openxmlformats.org/drawingml/2006/main">
            <a:srgbClr val="4F8CFF"/>
          </a:solidFill>
          <a:ln xmlns:a="http://schemas.openxmlformats.org/drawingml/2006/main" w="0">
            <a:solidFill>
              <a:srgbClr val="4F8CFF"/>
            </a:solidFill>
            <a:prstDash val="solid"/>
          </a:ln>
        </p:spPr>
      </p:sp>
      <p:sp>
        <p:nvSpPr>
          <p:cNvPr id="5" name="">
            <a:extLst xmlns:a="http://schemas.openxmlformats.org/drawingml/2006/main">
              <a:ext uri="{FF2B5EF4-FFF2-40B4-BE49-F238E27FC236}">
                <a16:creationId xmlns:a16="http://schemas.microsoft.com/office/drawing/2014/main" id="{A6F3CFC7-5A0A-4736-940A-B90253EAF97D}"/>
              </a:ext>
            </a:extLst>
          </p:cNvPr>
          <p:cNvSpPr>
            <a:spLocks xmlns:a="http://schemas.openxmlformats.org/drawingml/2006/main" noGrp="1"/>
          </p:cNvSpPr>
          <p:nvPr/>
        </p:nvSpPr>
        <p:spPr>
          <a:xfrm xmlns:a="http://schemas.openxmlformats.org/drawingml/2006/main">
            <a:off x="1123950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0">
                <a:solidFill>
                  <a:srgbClr val="6F7C9B"/>
                </a:solidFill>
                <a:latin typeface="JetBrains Mono"/>
                <a:ea typeface="JetBrains Mono"/>
                <a:cs typeface="JetBrains Mono"/>
              </a:defRPr>
            </a:pPr>
            <a:r>
              <a:rPr sz="1200" b="0">
                <a:solidFill>
                  <a:srgbClr val="6F7C9B"/>
                </a:solidFill>
                <a:latin typeface="JetBrains Mono"/>
                <a:ea typeface="JetBrains Mono"/>
                <a:cs typeface="JetBrains Mono"/>
              </a:rPr>
              <a:t>01</a:t>
            </a:r>
          </a:p>
        </p:txBody>
      </p:sp>
    </p:spTree>
    <p:extLst>
      <p:ext uri="{BB962C8B-B14F-4D97-AF65-F5344CB8AC3E}">
        <p14:creationId xmlns:p14="http://schemas.microsoft.com/office/powerpoint/2010/main" val="863975170"/>
      </p:ext>
    </p:extLst>
  </p:cSld>
</p:sld>
</file>

<file path=ppt/slides/slide2.xml><?xml version="1.0" encoding="utf-8"?>
<p:sld xmlns:p="http://schemas.openxmlformats.org/presentationml/2006/main">
  <p:cSld>
    <p:bg>
      <p:bgPr>
        <a:solidFill xmlns:a="http://schemas.openxmlformats.org/drawingml/2006/main">
          <a:srgbClr val="121A3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4C86D4-57C6-41F3-945C-276E2D601329}"/>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4F8CFF"/>
                </a:solidFill>
                <a:latin typeface="Space Grotesk"/>
                <a:ea typeface="Space Grotesk"/>
                <a:cs typeface="Space Grotesk"/>
              </a:defRPr>
            </a:pPr>
            <a:r>
              <a:rPr sz="1200" b="1">
                <a:solidFill>
                  <a:srgbClr val="4F8CFF"/>
                </a:solidFill>
                <a:latin typeface="Space Grotesk"/>
                <a:ea typeface="Space Grotesk"/>
                <a:cs typeface="Space Grotesk"/>
              </a:rPr>
              <a:t>THE PROBLEM</a:t>
            </a:r>
          </a:p>
        </p:txBody>
      </p:sp>
      <p:sp>
        <p:nvSpPr>
          <p:cNvPr id="2" name="">
            <a:extLst xmlns:a="http://schemas.openxmlformats.org/drawingml/2006/main">
              <a:ext uri="{FF2B5EF4-FFF2-40B4-BE49-F238E27FC236}">
                <a16:creationId xmlns:a16="http://schemas.microsoft.com/office/drawing/2014/main" id="{037EDA2B-4150-48F7-95DA-10B6739270E3}"/>
              </a:ext>
            </a:extLst>
          </p:cNvPr>
          <p:cNvSpPr>
            <a:spLocks xmlns:a="http://schemas.openxmlformats.org/drawingml/2006/main" noGrp="1"/>
          </p:cNvSpPr>
          <p:nvPr/>
        </p:nvSpPr>
        <p:spPr>
          <a:xfrm xmlns:a="http://schemas.openxmlformats.org/drawingml/2006/main">
            <a:off x="609600" y="933450"/>
            <a:ext cx="8763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00" b="1">
                <a:solidFill>
                  <a:srgbClr val="F4F7FF"/>
                </a:solidFill>
                <a:latin typeface="Space Grotesk"/>
                <a:ea typeface="Space Grotesk"/>
                <a:cs typeface="Space Grotesk"/>
              </a:defRPr>
            </a:pPr>
            <a:r>
              <a:rPr sz="3900" b="1">
                <a:solidFill>
                  <a:srgbClr val="F4F7FF"/>
                </a:solidFill>
                <a:latin typeface="Space Grotesk"/>
                <a:ea typeface="Space Grotesk"/>
                <a:cs typeface="Space Grotesk"/>
              </a:rPr>
              <a:t>The last step still asks:</a:t>
            </a:r>
          </a:p>
          <a:p xmlns:a="http://schemas.openxmlformats.org/drawingml/2006/main">
            <a:pPr algn="l">
              <a:defRPr sz="3900" b="1">
                <a:solidFill>
                  <a:srgbClr val="F4F7FF"/>
                </a:solidFill>
                <a:latin typeface="Space Grotesk"/>
                <a:ea typeface="Space Grotesk"/>
                <a:cs typeface="Space Grotesk"/>
              </a:defRPr>
            </a:pPr>
            <a:r>
              <a:rPr sz="3900" b="1">
                <a:solidFill>
                  <a:srgbClr val="F4F7FF"/>
                </a:solidFill>
                <a:latin typeface="Space Grotesk"/>
                <a:ea typeface="Space Grotesk"/>
                <a:cs typeface="Space Grotesk"/>
              </a:rPr>
              <a:t>who decides the result?</a:t>
            </a:r>
          </a:p>
        </p:txBody>
      </p:sp>
      <p:sp>
        <p:nvSpPr>
          <p:cNvPr id="3" name="">
            <a:extLst xmlns:a="http://schemas.openxmlformats.org/drawingml/2006/main">
              <a:ext uri="{FF2B5EF4-FFF2-40B4-BE49-F238E27FC236}">
                <a16:creationId xmlns:a16="http://schemas.microsoft.com/office/drawing/2014/main" id="{8DE78A91-F841-4F78-9AF9-37828DC05055}"/>
              </a:ext>
            </a:extLst>
          </p:cNvPr>
          <p:cNvSpPr>
            <a:spLocks xmlns:a="http://schemas.openxmlformats.org/drawingml/2006/main" noGrp="1"/>
          </p:cNvSpPr>
          <p:nvPr/>
        </p:nvSpPr>
        <p:spPr>
          <a:xfrm xmlns:a="http://schemas.openxmlformats.org/drawingml/2006/main">
            <a:off x="609600" y="28003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F7C9B"/>
                </a:solidFill>
                <a:latin typeface="Space Grotesk"/>
                <a:ea typeface="Space Grotesk"/>
                <a:cs typeface="Space Grotesk"/>
              </a:defRPr>
            </a:pPr>
            <a:r>
              <a:rPr sz="1500" b="0">
                <a:solidFill>
                  <a:srgbClr val="6F7C9B"/>
                </a:solidFill>
                <a:latin typeface="Space Grotesk"/>
                <a:ea typeface="Space Grotesk"/>
                <a:cs typeface="Space Grotesk"/>
              </a:rPr>
              <a:t>A common optimistic-oracle flow</a:t>
            </a:r>
          </a:p>
        </p:txBody>
      </p:sp>
      <p:sp>
        <p:nvSpPr>
          <p:cNvPr id="4" name="">
            <a:extLst xmlns:a="http://schemas.openxmlformats.org/drawingml/2006/main">
              <a:ext uri="{FF2B5EF4-FFF2-40B4-BE49-F238E27FC236}">
                <a16:creationId xmlns:a16="http://schemas.microsoft.com/office/drawing/2014/main" id="{598C2A34-90E0-4032-9218-F457B11B6840}"/>
              </a:ext>
            </a:extLst>
          </p:cNvPr>
          <p:cNvSpPr>
            <a:spLocks xmlns:a="http://schemas.openxmlformats.org/drawingml/2006/main" noGrp="1"/>
          </p:cNvSpPr>
          <p:nvPr/>
        </p:nvSpPr>
        <p:spPr>
          <a:xfrm xmlns:a="http://schemas.openxmlformats.org/drawingml/2006/main">
            <a:off x="609600" y="34290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F4F7FF"/>
                </a:solidFill>
                <a:latin typeface="Space Grotesk"/>
                <a:ea typeface="Space Grotesk"/>
                <a:cs typeface="Space Grotesk"/>
              </a:defRPr>
            </a:pPr>
            <a:r>
              <a:rPr sz="2850" b="1">
                <a:solidFill>
                  <a:srgbClr val="F4F7FF"/>
                </a:solidFill>
                <a:latin typeface="Space Grotesk"/>
                <a:ea typeface="Space Grotesk"/>
                <a:cs typeface="Space Grotesk"/>
              </a:rPr>
              <a:t>Propose</a:t>
            </a:r>
          </a:p>
        </p:txBody>
      </p:sp>
      <p:sp>
        <p:nvSpPr>
          <p:cNvPr id="5" name="">
            <a:extLst xmlns:a="http://schemas.openxmlformats.org/drawingml/2006/main">
              <a:ext uri="{FF2B5EF4-FFF2-40B4-BE49-F238E27FC236}">
                <a16:creationId xmlns:a16="http://schemas.microsoft.com/office/drawing/2014/main" id="{F888FF58-87E5-4DFA-B3E7-AF74451A2ED0}"/>
              </a:ext>
            </a:extLst>
          </p:cNvPr>
          <p:cNvSpPr>
            <a:spLocks xmlns:a="http://schemas.openxmlformats.org/drawingml/2006/main" noGrp="1"/>
          </p:cNvSpPr>
          <p:nvPr/>
        </p:nvSpPr>
        <p:spPr>
          <a:xfrm xmlns:a="http://schemas.openxmlformats.org/drawingml/2006/main">
            <a:off x="3086100" y="34290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0">
                <a:solidFill>
                  <a:srgbClr val="6F7C9B"/>
                </a:solidFill>
                <a:latin typeface="Space Grotesk"/>
                <a:ea typeface="Space Grotesk"/>
                <a:cs typeface="Space Grotesk"/>
              </a:defRPr>
            </a:pPr>
            <a:r>
              <a:rPr sz="3000" b="0">
                <a:solidFill>
                  <a:srgbClr val="6F7C9B"/>
                </a:solidFill>
                <a:latin typeface="Space Grotesk"/>
                <a:ea typeface="Space Grotesk"/>
                <a:cs typeface="Space Grotesk"/>
              </a:rPr>
              <a:t>→</a:t>
            </a:r>
          </a:p>
        </p:txBody>
      </p:sp>
      <p:sp>
        <p:nvSpPr>
          <p:cNvPr id="6" name="">
            <a:extLst xmlns:a="http://schemas.openxmlformats.org/drawingml/2006/main">
              <a:ext uri="{FF2B5EF4-FFF2-40B4-BE49-F238E27FC236}">
                <a16:creationId xmlns:a16="http://schemas.microsoft.com/office/drawing/2014/main" id="{434052C6-439B-4887-B407-E147C5033E62}"/>
              </a:ext>
            </a:extLst>
          </p:cNvPr>
          <p:cNvSpPr>
            <a:spLocks xmlns:a="http://schemas.openxmlformats.org/drawingml/2006/main" noGrp="1"/>
          </p:cNvSpPr>
          <p:nvPr/>
        </p:nvSpPr>
        <p:spPr>
          <a:xfrm xmlns:a="http://schemas.openxmlformats.org/drawingml/2006/main">
            <a:off x="3905250" y="34290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F4F7FF"/>
                </a:solidFill>
                <a:latin typeface="Space Grotesk"/>
                <a:ea typeface="Space Grotesk"/>
                <a:cs typeface="Space Grotesk"/>
              </a:defRPr>
            </a:pPr>
            <a:r>
              <a:rPr sz="2850" b="1">
                <a:solidFill>
                  <a:srgbClr val="F4F7FF"/>
                </a:solidFill>
                <a:latin typeface="Space Grotesk"/>
                <a:ea typeface="Space Grotesk"/>
                <a:cs typeface="Space Grotesk"/>
              </a:rPr>
              <a:t>Challenge</a:t>
            </a:r>
          </a:p>
        </p:txBody>
      </p:sp>
      <p:sp>
        <p:nvSpPr>
          <p:cNvPr id="7" name="">
            <a:extLst xmlns:a="http://schemas.openxmlformats.org/drawingml/2006/main">
              <a:ext uri="{FF2B5EF4-FFF2-40B4-BE49-F238E27FC236}">
                <a16:creationId xmlns:a16="http://schemas.microsoft.com/office/drawing/2014/main" id="{3277D78E-491D-464F-A563-F27B673F4544}"/>
              </a:ext>
            </a:extLst>
          </p:cNvPr>
          <p:cNvSpPr>
            <a:spLocks xmlns:a="http://schemas.openxmlformats.org/drawingml/2006/main" noGrp="1"/>
          </p:cNvSpPr>
          <p:nvPr/>
        </p:nvSpPr>
        <p:spPr>
          <a:xfrm xmlns:a="http://schemas.openxmlformats.org/drawingml/2006/main">
            <a:off x="6381750" y="34290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0">
                <a:solidFill>
                  <a:srgbClr val="6F7C9B"/>
                </a:solidFill>
                <a:latin typeface="Space Grotesk"/>
                <a:ea typeface="Space Grotesk"/>
                <a:cs typeface="Space Grotesk"/>
              </a:defRPr>
            </a:pPr>
            <a:r>
              <a:rPr sz="3000" b="0">
                <a:solidFill>
                  <a:srgbClr val="6F7C9B"/>
                </a:solidFill>
                <a:latin typeface="Space Grotesk"/>
                <a:ea typeface="Space Grotesk"/>
                <a:cs typeface="Space Grotesk"/>
              </a:rPr>
              <a:t>→</a:t>
            </a:r>
          </a:p>
        </p:txBody>
      </p:sp>
      <p:sp>
        <p:nvSpPr>
          <p:cNvPr id="8" name="">
            <a:extLst xmlns:a="http://schemas.openxmlformats.org/drawingml/2006/main">
              <a:ext uri="{FF2B5EF4-FFF2-40B4-BE49-F238E27FC236}">
                <a16:creationId xmlns:a16="http://schemas.microsoft.com/office/drawing/2014/main" id="{97E94DB9-100D-47FF-912A-B95BFE8DB76E}"/>
              </a:ext>
            </a:extLst>
          </p:cNvPr>
          <p:cNvSpPr>
            <a:spLocks xmlns:a="http://schemas.openxmlformats.org/drawingml/2006/main" noGrp="1"/>
          </p:cNvSpPr>
          <p:nvPr/>
        </p:nvSpPr>
        <p:spPr>
          <a:xfrm xmlns:a="http://schemas.openxmlformats.org/drawingml/2006/main">
            <a:off x="7200900" y="34290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FF5D6C"/>
                </a:solidFill>
                <a:latin typeface="Space Grotesk"/>
                <a:ea typeface="Space Grotesk"/>
                <a:cs typeface="Space Grotesk"/>
              </a:defRPr>
            </a:pPr>
            <a:r>
              <a:rPr sz="2850" b="1">
                <a:solidFill>
                  <a:srgbClr val="FF5D6C"/>
                </a:solidFill>
                <a:latin typeface="Space Grotesk"/>
                <a:ea typeface="Space Grotesk"/>
                <a:cs typeface="Space Grotesk"/>
              </a:rPr>
              <a:t>Vote</a:t>
            </a:r>
          </a:p>
        </p:txBody>
      </p:sp>
      <p:sp>
        <p:nvSpPr>
          <p:cNvPr id="9" name="">
            <a:extLst xmlns:a="http://schemas.openxmlformats.org/drawingml/2006/main">
              <a:ext uri="{FF2B5EF4-FFF2-40B4-BE49-F238E27FC236}">
                <a16:creationId xmlns:a16="http://schemas.microsoft.com/office/drawing/2014/main" id="{2CB7624B-AB21-4D62-9421-9983F1BB6C76}"/>
              </a:ext>
            </a:extLst>
          </p:cNvPr>
          <p:cNvSpPr>
            <a:spLocks xmlns:a="http://schemas.openxmlformats.org/drawingml/2006/main" noGrp="1"/>
          </p:cNvSpPr>
          <p:nvPr/>
        </p:nvSpPr>
        <p:spPr>
          <a:xfrm xmlns:a="http://schemas.openxmlformats.org/drawingml/2006/main">
            <a:off x="609600" y="4514850"/>
            <a:ext cx="857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0">
                <a:solidFill>
                  <a:srgbClr val="AAB5CF"/>
                </a:solidFill>
                <a:latin typeface="Space Grotesk"/>
                <a:ea typeface="Space Grotesk"/>
                <a:cs typeface="Space Grotesk"/>
              </a:defRPr>
            </a:pPr>
            <a:r>
              <a:rPr sz="2100" b="0">
                <a:solidFill>
                  <a:srgbClr val="AAB5CF"/>
                </a:solidFill>
                <a:latin typeface="Space Grotesk"/>
                <a:ea typeface="Space Grotesk"/>
                <a:cs typeface="Space Grotesk"/>
              </a:rPr>
              <a:t>Settlement becomes a human interpretation layer—</a:t>
            </a:r>
          </a:p>
          <a:p xmlns:a="http://schemas.openxmlformats.org/drawingml/2006/main">
            <a:pPr algn="l">
              <a:defRPr sz="2100" b="0">
                <a:solidFill>
                  <a:srgbClr val="AAB5CF"/>
                </a:solidFill>
                <a:latin typeface="Space Grotesk"/>
                <a:ea typeface="Space Grotesk"/>
                <a:cs typeface="Space Grotesk"/>
              </a:defRPr>
            </a:pPr>
            <a:r>
              <a:rPr sz="2100" b="0">
                <a:solidFill>
                  <a:srgbClr val="AAB5CF"/>
                </a:solidFill>
                <a:latin typeface="Space Grotesk"/>
                <a:ea typeface="Space Grotesk"/>
                <a:cs typeface="Space Grotesk"/>
              </a:rPr>
              <a:t>even when trading itself is on-chain.</a:t>
            </a:r>
          </a:p>
        </p:txBody>
      </p:sp>
      <p:sp>
        <p:nvSpPr>
          <p:cNvPr id="10" name="">
            <a:extLst xmlns:a="http://schemas.openxmlformats.org/drawingml/2006/main">
              <a:ext uri="{FF2B5EF4-FFF2-40B4-BE49-F238E27FC236}">
                <a16:creationId xmlns:a16="http://schemas.microsoft.com/office/drawing/2014/main" id="{5490AE13-D85F-41AC-9FE4-75AFF12F35E3}"/>
              </a:ext>
            </a:extLst>
          </p:cNvPr>
          <p:cNvSpPr>
            <a:spLocks xmlns:a="http://schemas.openxmlformats.org/drawingml/2006/main" noGrp="1"/>
          </p:cNvSpPr>
          <p:nvPr/>
        </p:nvSpPr>
        <p:spPr>
          <a:xfrm xmlns:a="http://schemas.openxmlformats.org/drawingml/2006/main">
            <a:off x="609600" y="6153150"/>
            <a:ext cx="914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F7C9B"/>
                </a:solidFill>
                <a:latin typeface="Space Grotesk"/>
                <a:ea typeface="Space Grotesk"/>
                <a:cs typeface="Space Grotesk"/>
              </a:defRPr>
            </a:pPr>
            <a:r>
              <a:rPr sz="1200" b="0">
                <a:solidFill>
                  <a:srgbClr val="6F7C9B"/>
                </a:solidFill>
                <a:latin typeface="Space Grotesk"/>
                <a:ea typeface="Space Grotesk"/>
                <a:cs typeface="Space Grotesk"/>
              </a:rPr>
              <a:t>Source: Polymarket resolution documentation · docs.polymarket.com/concepts/resolution</a:t>
            </a:r>
          </a:p>
        </p:txBody>
      </p:sp>
      <p:sp>
        <p:nvSpPr>
          <p:cNvPr id="11" name="">
            <a:extLst xmlns:a="http://schemas.openxmlformats.org/drawingml/2006/main">
              <a:ext uri="{FF2B5EF4-FFF2-40B4-BE49-F238E27FC236}">
                <a16:creationId xmlns:a16="http://schemas.microsoft.com/office/drawing/2014/main" id="{F971B20C-7BB4-4570-8AC1-9B9881729C02}"/>
              </a:ext>
            </a:extLst>
          </p:cNvPr>
          <p:cNvSpPr>
            <a:spLocks xmlns:a="http://schemas.openxmlformats.org/drawingml/2006/main" noGrp="1"/>
          </p:cNvSpPr>
          <p:nvPr/>
        </p:nvSpPr>
        <p:spPr>
          <a:xfrm xmlns:a="http://schemas.openxmlformats.org/drawingml/2006/main">
            <a:off x="1123950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0">
                <a:solidFill>
                  <a:srgbClr val="6F7C9B"/>
                </a:solidFill>
                <a:latin typeface="JetBrains Mono"/>
                <a:ea typeface="JetBrains Mono"/>
                <a:cs typeface="JetBrains Mono"/>
              </a:defRPr>
            </a:pPr>
            <a:r>
              <a:rPr sz="1200" b="0">
                <a:solidFill>
                  <a:srgbClr val="6F7C9B"/>
                </a:solidFill>
                <a:latin typeface="JetBrains Mono"/>
                <a:ea typeface="JetBrains Mono"/>
                <a:cs typeface="JetBrains Mono"/>
              </a:rPr>
              <a:t>02</a:t>
            </a:r>
          </a:p>
        </p:txBody>
      </p:sp>
    </p:spTree>
    <p:extLst>
      <p:ext uri="{BB962C8B-B14F-4D97-AF65-F5344CB8AC3E}">
        <p14:creationId xmlns:p14="http://schemas.microsoft.com/office/powerpoint/2010/main" val="121028690"/>
      </p:ext>
    </p:extLst>
  </p:cSld>
</p:sld>
</file>

<file path=ppt/slides/slide3.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012CE75-CF67-483C-8091-6654E0D3F8FF}"/>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4F8CFF"/>
                </a:solidFill>
                <a:latin typeface="Space Grotesk"/>
                <a:ea typeface="Space Grotesk"/>
                <a:cs typeface="Space Grotesk"/>
              </a:defRPr>
            </a:pPr>
            <a:r>
              <a:rPr sz="1200" b="1">
                <a:solidFill>
                  <a:srgbClr val="4F8CFF"/>
                </a:solidFill>
                <a:latin typeface="Space Grotesk"/>
                <a:ea typeface="Space Grotesk"/>
                <a:cs typeface="Space Grotesk"/>
              </a:rPr>
              <a:t>THE PRODUCT</a:t>
            </a:r>
          </a:p>
        </p:txBody>
      </p:sp>
      <p:sp>
        <p:nvSpPr>
          <p:cNvPr id="2" name="">
            <a:extLst xmlns:a="http://schemas.openxmlformats.org/drawingml/2006/main">
              <a:ext uri="{FF2B5EF4-FFF2-40B4-BE49-F238E27FC236}">
                <a16:creationId xmlns:a16="http://schemas.microsoft.com/office/drawing/2014/main" id="{257BF404-7945-4167-9532-F39A75BAB44D}"/>
              </a:ext>
            </a:extLst>
          </p:cNvPr>
          <p:cNvSpPr>
            <a:spLocks xmlns:a="http://schemas.openxmlformats.org/drawingml/2006/main" noGrp="1"/>
          </p:cNvSpPr>
          <p:nvPr/>
        </p:nvSpPr>
        <p:spPr>
          <a:xfrm xmlns:a="http://schemas.openxmlformats.org/drawingml/2006/main">
            <a:off x="609600" y="7810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312"/>
          </a:bodyPr>
          <a:lstStyle xmlns:a="http://schemas.openxmlformats.org/drawingml/2006/main"/>
          <a:p xmlns:a="http://schemas.openxmlformats.org/drawingml/2006/main">
            <a:pPr algn="l">
              <a:defRPr sz="3450" b="1">
                <a:solidFill>
                  <a:srgbClr val="F4F7FF"/>
                </a:solidFill>
                <a:latin typeface="Space Grotesk"/>
                <a:ea typeface="Space Grotesk"/>
                <a:cs typeface="Space Grotesk"/>
              </a:defRPr>
            </a:pPr>
            <a:r>
              <a:rPr sz="3450" b="1">
                <a:solidFill>
                  <a:srgbClr val="F4F7FF"/>
                </a:solidFill>
                <a:latin typeface="Space Grotesk"/>
                <a:ea typeface="Space Grotesk"/>
                <a:cs typeface="Space Grotesk"/>
              </a:rPr>
              <a:t>A sportsbook experience—without sportsbook authority</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0c7fb5124814dac"/>
          <a:srcRect xmlns:a="http://schemas.openxmlformats.org/drawingml/2006/main" l="0" t="580" r="0" b="580"/>
          <a:stretch xmlns:a="http://schemas.openxmlformats.org/drawingml/2006/main">
            <a:fillRect l="0" t="0" r="0" b="0"/>
          </a:stretch>
        </p:blipFill>
        <p:spPr>
          <a:xfrm xmlns:a="http://schemas.openxmlformats.org/drawingml/2006/main">
            <a:off x="609600" y="1619250"/>
            <a:ext cx="7239000" cy="4495800"/>
          </a:xfrm>
          <a:prstGeom xmlns:a="http://schemas.openxmlformats.org/drawingml/2006/main" prst="roundRect">
            <a:avLst>
              <a:gd name="adj" fmla="val 3814"/>
            </a:avLst>
          </a:prstGeom>
        </p:spPr>
      </p:pic>
      <p:sp>
        <p:nvSpPr>
          <p:cNvPr id="4" name="">
            <a:extLst xmlns:a="http://schemas.openxmlformats.org/drawingml/2006/main">
              <a:ext uri="{FF2B5EF4-FFF2-40B4-BE49-F238E27FC236}">
                <a16:creationId xmlns:a16="http://schemas.microsoft.com/office/drawing/2014/main" id="{3F542B71-A526-4E21-95AB-9657B443BBCF}"/>
              </a:ext>
            </a:extLst>
          </p:cNvPr>
          <p:cNvSpPr>
            <a:spLocks xmlns:a="http://schemas.openxmlformats.org/drawingml/2006/main" noGrp="1"/>
          </p:cNvSpPr>
          <p:nvPr/>
        </p:nvSpPr>
        <p:spPr>
          <a:xfrm xmlns:a="http://schemas.openxmlformats.org/drawingml/2006/main">
            <a:off x="8096250" y="1619250"/>
            <a:ext cx="3371850" cy="4495800"/>
          </a:xfrm>
          <a:prstGeom xmlns:a="http://schemas.openxmlformats.org/drawingml/2006/main" prst="roundRect">
            <a:avLst>
              <a:gd name="adj" fmla="val 5085"/>
            </a:avLst>
          </a:prstGeom>
          <a:solidFill xmlns:a="http://schemas.openxmlformats.org/drawingml/2006/main">
            <a:srgbClr val="121A31"/>
          </a:solidFill>
          <a:ln xmlns:a="http://schemas.openxmlformats.org/drawingml/2006/main" w="9525">
            <a:solidFill>
              <a:srgbClr val="2A385B"/>
            </a:solidFill>
            <a:prstDash val="solid"/>
          </a:ln>
        </p:spPr>
      </p:sp>
      <p:sp>
        <p:nvSpPr>
          <p:cNvPr id="5" name="">
            <a:extLst xmlns:a="http://schemas.openxmlformats.org/drawingml/2006/main">
              <a:ext uri="{FF2B5EF4-FFF2-40B4-BE49-F238E27FC236}">
                <a16:creationId xmlns:a16="http://schemas.microsoft.com/office/drawing/2014/main" id="{F74B8067-435E-4373-8BB6-F1A956F2DFE7}"/>
              </a:ext>
            </a:extLst>
          </p:cNvPr>
          <p:cNvSpPr>
            <a:spLocks xmlns:a="http://schemas.openxmlformats.org/drawingml/2006/main" noGrp="1"/>
          </p:cNvSpPr>
          <p:nvPr/>
        </p:nvSpPr>
        <p:spPr>
          <a:xfrm xmlns:a="http://schemas.openxmlformats.org/drawingml/2006/main">
            <a:off x="8401050" y="2076450"/>
            <a:ext cx="47625" cy="609600"/>
          </a:xfrm>
          <a:prstGeom xmlns:a="http://schemas.openxmlformats.org/drawingml/2006/main" prst="rect">
            <a:avLst/>
          </a:prstGeom>
          <a:solidFill xmlns:a="http://schemas.openxmlformats.org/drawingml/2006/main">
            <a:srgbClr val="4F8C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175F3C-E834-4BF5-AF52-FC365F050AA4}"/>
              </a:ext>
            </a:extLst>
          </p:cNvPr>
          <p:cNvSpPr>
            <a:spLocks xmlns:a="http://schemas.openxmlformats.org/drawingml/2006/main" noGrp="1"/>
          </p:cNvSpPr>
          <p:nvPr/>
        </p:nvSpPr>
        <p:spPr>
          <a:xfrm xmlns:a="http://schemas.openxmlformats.org/drawingml/2006/main">
            <a:off x="8648700" y="2076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4F8CFF"/>
                </a:solidFill>
                <a:latin typeface="JetBrains Mono"/>
                <a:ea typeface="JetBrains Mono"/>
                <a:cs typeface="JetBrains Mono"/>
              </a:defRPr>
            </a:pPr>
            <a:r>
              <a:rPr sz="1650" b="1">
                <a:solidFill>
                  <a:srgbClr val="4F8CFF"/>
                </a:solidFill>
                <a:latin typeface="JetBrains Mono"/>
                <a:ea typeface="JetBrains Mono"/>
                <a:cs typeface="JetBrains Mono"/>
              </a:rPr>
              <a:t>YES / NO</a:t>
            </a:r>
          </a:p>
        </p:txBody>
      </p:sp>
      <p:sp>
        <p:nvSpPr>
          <p:cNvPr id="7" name="">
            <a:extLst xmlns:a="http://schemas.openxmlformats.org/drawingml/2006/main">
              <a:ext uri="{FF2B5EF4-FFF2-40B4-BE49-F238E27FC236}">
                <a16:creationId xmlns:a16="http://schemas.microsoft.com/office/drawing/2014/main" id="{60337C10-EB0D-4061-B5F8-7E1E4ABC5545}"/>
              </a:ext>
            </a:extLst>
          </p:cNvPr>
          <p:cNvSpPr>
            <a:spLocks xmlns:a="http://schemas.openxmlformats.org/drawingml/2006/main" noGrp="1"/>
          </p:cNvSpPr>
          <p:nvPr/>
        </p:nvSpPr>
        <p:spPr>
          <a:xfrm xmlns:a="http://schemas.openxmlformats.org/drawingml/2006/main">
            <a:off x="8648700" y="24384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l">
              <a:defRPr sz="1650" b="0">
                <a:solidFill>
                  <a:srgbClr val="AAB5CF"/>
                </a:solidFill>
                <a:latin typeface="Space Grotesk"/>
                <a:ea typeface="Space Grotesk"/>
                <a:cs typeface="Space Grotesk"/>
              </a:defRPr>
            </a:pPr>
            <a:r>
              <a:rPr sz="1650" b="0">
                <a:solidFill>
                  <a:srgbClr val="AAB5CF"/>
                </a:solidFill>
                <a:latin typeface="Space Grotesk"/>
                <a:ea typeface="Space Grotesk"/>
                <a:cs typeface="Space Grotesk"/>
              </a:rPr>
              <a:t>Simple fan-facing markets</a:t>
            </a:r>
          </a:p>
        </p:txBody>
      </p:sp>
      <p:sp>
        <p:nvSpPr>
          <p:cNvPr id="8" name="">
            <a:extLst xmlns:a="http://schemas.openxmlformats.org/drawingml/2006/main">
              <a:ext uri="{FF2B5EF4-FFF2-40B4-BE49-F238E27FC236}">
                <a16:creationId xmlns:a16="http://schemas.microsoft.com/office/drawing/2014/main" id="{4D81E3CE-EECF-4405-B545-C26B6BED76B9}"/>
              </a:ext>
            </a:extLst>
          </p:cNvPr>
          <p:cNvSpPr>
            <a:spLocks xmlns:a="http://schemas.openxmlformats.org/drawingml/2006/main" noGrp="1"/>
          </p:cNvSpPr>
          <p:nvPr/>
        </p:nvSpPr>
        <p:spPr>
          <a:xfrm xmlns:a="http://schemas.openxmlformats.org/drawingml/2006/main">
            <a:off x="8401050" y="3276600"/>
            <a:ext cx="47625" cy="609600"/>
          </a:xfrm>
          <a:prstGeom xmlns:a="http://schemas.openxmlformats.org/drawingml/2006/main" prst="rect">
            <a:avLst/>
          </a:prstGeom>
          <a:solidFill xmlns:a="http://schemas.openxmlformats.org/drawingml/2006/main">
            <a:srgbClr val="28C76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D60EC4-B35D-44ED-884E-5E329AA04313}"/>
              </a:ext>
            </a:extLst>
          </p:cNvPr>
          <p:cNvSpPr>
            <a:spLocks xmlns:a="http://schemas.openxmlformats.org/drawingml/2006/main" noGrp="1"/>
          </p:cNvSpPr>
          <p:nvPr/>
        </p:nvSpPr>
        <p:spPr>
          <a:xfrm xmlns:a="http://schemas.openxmlformats.org/drawingml/2006/main">
            <a:off x="8648700" y="3276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8C76F"/>
                </a:solidFill>
                <a:latin typeface="JetBrains Mono"/>
                <a:ea typeface="JetBrains Mono"/>
                <a:cs typeface="JetBrains Mono"/>
              </a:defRPr>
            </a:pPr>
            <a:r>
              <a:rPr sz="1650" b="1">
                <a:solidFill>
                  <a:srgbClr val="28C76F"/>
                </a:solidFill>
                <a:latin typeface="JetBrains Mono"/>
                <a:ea typeface="JetBrains Mono"/>
                <a:cs typeface="JetBrains Mono"/>
              </a:rPr>
              <a:t>PARIMUTUEL</a:t>
            </a:r>
          </a:p>
        </p:txBody>
      </p:sp>
      <p:sp>
        <p:nvSpPr>
          <p:cNvPr id="10" name="">
            <a:extLst xmlns:a="http://schemas.openxmlformats.org/drawingml/2006/main">
              <a:ext uri="{FF2B5EF4-FFF2-40B4-BE49-F238E27FC236}">
                <a16:creationId xmlns:a16="http://schemas.microsoft.com/office/drawing/2014/main" id="{0DB4E856-B7C9-42DC-8493-229EF7FC7897}"/>
              </a:ext>
            </a:extLst>
          </p:cNvPr>
          <p:cNvSpPr>
            <a:spLocks xmlns:a="http://schemas.openxmlformats.org/drawingml/2006/main" noGrp="1"/>
          </p:cNvSpPr>
          <p:nvPr/>
        </p:nvSpPr>
        <p:spPr>
          <a:xfrm xmlns:a="http://schemas.openxmlformats.org/drawingml/2006/main">
            <a:off x="8648700" y="36385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l">
              <a:defRPr sz="1650" b="0">
                <a:solidFill>
                  <a:srgbClr val="AAB5CF"/>
                </a:solidFill>
                <a:latin typeface="Space Grotesk"/>
                <a:ea typeface="Space Grotesk"/>
                <a:cs typeface="Space Grotesk"/>
              </a:defRPr>
            </a:pPr>
            <a:r>
              <a:rPr sz="1650" b="0">
                <a:solidFill>
                  <a:srgbClr val="AAB5CF"/>
                </a:solidFill>
                <a:latin typeface="Space Grotesk"/>
                <a:ea typeface="Space Grotesk"/>
                <a:cs typeface="Space Grotesk"/>
              </a:rPr>
              <a:t>Shared pools, no counterparty</a:t>
            </a:r>
          </a:p>
        </p:txBody>
      </p:sp>
      <p:sp>
        <p:nvSpPr>
          <p:cNvPr id="11" name="">
            <a:extLst xmlns:a="http://schemas.openxmlformats.org/drawingml/2006/main">
              <a:ext uri="{FF2B5EF4-FFF2-40B4-BE49-F238E27FC236}">
                <a16:creationId xmlns:a16="http://schemas.microsoft.com/office/drawing/2014/main" id="{8EE80B13-BCB0-4C98-B999-39D3D31E2D84}"/>
              </a:ext>
            </a:extLst>
          </p:cNvPr>
          <p:cNvSpPr>
            <a:spLocks xmlns:a="http://schemas.openxmlformats.org/drawingml/2006/main" noGrp="1"/>
          </p:cNvSpPr>
          <p:nvPr/>
        </p:nvSpPr>
        <p:spPr>
          <a:xfrm xmlns:a="http://schemas.openxmlformats.org/drawingml/2006/main">
            <a:off x="8401050" y="4476750"/>
            <a:ext cx="47625" cy="609600"/>
          </a:xfrm>
          <a:prstGeom xmlns:a="http://schemas.openxmlformats.org/drawingml/2006/main" prst="rect">
            <a:avLst/>
          </a:prstGeom>
          <a:solidFill xmlns:a="http://schemas.openxmlformats.org/drawingml/2006/main">
            <a:srgbClr val="4F8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540FD61-DB3F-40AD-BAA2-10CDEA84DC85}"/>
              </a:ext>
            </a:extLst>
          </p:cNvPr>
          <p:cNvSpPr>
            <a:spLocks xmlns:a="http://schemas.openxmlformats.org/drawingml/2006/main" noGrp="1"/>
          </p:cNvSpPr>
          <p:nvPr/>
        </p:nvSpPr>
        <p:spPr>
          <a:xfrm xmlns:a="http://schemas.openxmlformats.org/drawingml/2006/main">
            <a:off x="8648700" y="4476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4F8CFF"/>
                </a:solidFill>
                <a:latin typeface="JetBrains Mono"/>
                <a:ea typeface="JetBrains Mono"/>
                <a:cs typeface="JetBrains Mono"/>
              </a:defRPr>
            </a:pPr>
            <a:r>
              <a:rPr sz="1650" b="1">
                <a:solidFill>
                  <a:srgbClr val="4F8CFF"/>
                </a:solidFill>
                <a:latin typeface="JetBrains Mono"/>
                <a:ea typeface="JetBrains Mono"/>
                <a:cs typeface="JetBrains Mono"/>
              </a:rPr>
              <a:t>COMBOS</a:t>
            </a:r>
          </a:p>
        </p:txBody>
      </p:sp>
      <p:sp>
        <p:nvSpPr>
          <p:cNvPr id="13" name="">
            <a:extLst xmlns:a="http://schemas.openxmlformats.org/drawingml/2006/main">
              <a:ext uri="{FF2B5EF4-FFF2-40B4-BE49-F238E27FC236}">
                <a16:creationId xmlns:a16="http://schemas.microsoft.com/office/drawing/2014/main" id="{BC55583F-6E10-40A4-A71B-2EA4F6A1980F}"/>
              </a:ext>
            </a:extLst>
          </p:cNvPr>
          <p:cNvSpPr>
            <a:spLocks xmlns:a="http://schemas.openxmlformats.org/drawingml/2006/main" noGrp="1"/>
          </p:cNvSpPr>
          <p:nvPr/>
        </p:nvSpPr>
        <p:spPr>
          <a:xfrm xmlns:a="http://schemas.openxmlformats.org/drawingml/2006/main">
            <a:off x="8648700" y="48387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AAB5CF"/>
                </a:solidFill>
                <a:latin typeface="Space Grotesk"/>
                <a:ea typeface="Space Grotesk"/>
                <a:cs typeface="Space Grotesk"/>
              </a:defRPr>
            </a:pPr>
            <a:r>
              <a:rPr sz="1650" b="0">
                <a:solidFill>
                  <a:srgbClr val="AAB5CF"/>
                </a:solidFill>
                <a:latin typeface="Space Grotesk"/>
                <a:ea typeface="Space Grotesk"/>
                <a:cs typeface="Space Grotesk"/>
              </a:rPr>
              <a:t>Multiple picks, one ticket</a:t>
            </a:r>
          </a:p>
        </p:txBody>
      </p:sp>
      <p:sp>
        <p:nvSpPr>
          <p:cNvPr id="14" name="">
            <a:extLst xmlns:a="http://schemas.openxmlformats.org/drawingml/2006/main">
              <a:ext uri="{FF2B5EF4-FFF2-40B4-BE49-F238E27FC236}">
                <a16:creationId xmlns:a16="http://schemas.microsoft.com/office/drawing/2014/main" id="{983EFAA5-9DD4-498E-A1AB-9DF38D3270B4}"/>
              </a:ext>
            </a:extLst>
          </p:cNvPr>
          <p:cNvSpPr>
            <a:spLocks xmlns:a="http://schemas.openxmlformats.org/drawingml/2006/main" noGrp="1"/>
          </p:cNvSpPr>
          <p:nvPr/>
        </p:nvSpPr>
        <p:spPr>
          <a:xfrm xmlns:a="http://schemas.openxmlformats.org/drawingml/2006/main">
            <a:off x="609600" y="62103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F7C9B"/>
                </a:solidFill>
                <a:latin typeface="Space Grotesk"/>
                <a:ea typeface="Space Grotesk"/>
                <a:cs typeface="Space Grotesk"/>
              </a:defRPr>
            </a:pPr>
            <a:r>
              <a:rPr sz="1200" b="0">
                <a:solidFill>
                  <a:srgbClr val="6F7C9B"/>
                </a:solidFill>
                <a:latin typeface="Space Grotesk"/>
                <a:ea typeface="Space Grotesk"/>
                <a:cs typeface="Space Grotesk"/>
              </a:rPr>
              <a:t>Recorded devnet World Cup replay</a:t>
            </a:r>
          </a:p>
        </p:txBody>
      </p:sp>
      <p:sp>
        <p:nvSpPr>
          <p:cNvPr id="15" name="">
            <a:extLst xmlns:a="http://schemas.openxmlformats.org/drawingml/2006/main">
              <a:ext uri="{FF2B5EF4-FFF2-40B4-BE49-F238E27FC236}">
                <a16:creationId xmlns:a16="http://schemas.microsoft.com/office/drawing/2014/main" id="{26B2C432-9380-4132-BDF8-2F7EAD3E59FB}"/>
              </a:ext>
            </a:extLst>
          </p:cNvPr>
          <p:cNvSpPr>
            <a:spLocks xmlns:a="http://schemas.openxmlformats.org/drawingml/2006/main" noGrp="1"/>
          </p:cNvSpPr>
          <p:nvPr/>
        </p:nvSpPr>
        <p:spPr>
          <a:xfrm xmlns:a="http://schemas.openxmlformats.org/drawingml/2006/main">
            <a:off x="1123950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0">
                <a:solidFill>
                  <a:srgbClr val="6F7C9B"/>
                </a:solidFill>
                <a:latin typeface="JetBrains Mono"/>
                <a:ea typeface="JetBrains Mono"/>
                <a:cs typeface="JetBrains Mono"/>
              </a:defRPr>
            </a:pPr>
            <a:r>
              <a:rPr sz="1200" b="0">
                <a:solidFill>
                  <a:srgbClr val="6F7C9B"/>
                </a:solidFill>
                <a:latin typeface="JetBrains Mono"/>
                <a:ea typeface="JetBrains Mono"/>
                <a:cs typeface="JetBrains Mono"/>
              </a:rPr>
              <a:t>03</a:t>
            </a:r>
          </a:p>
        </p:txBody>
      </p:sp>
    </p:spTree>
    <p:extLst>
      <p:ext uri="{BB962C8B-B14F-4D97-AF65-F5344CB8AC3E}">
        <p14:creationId xmlns:p14="http://schemas.microsoft.com/office/powerpoint/2010/main" val="893982721"/>
      </p:ext>
    </p:extLst>
  </p:cSld>
</p:sld>
</file>

<file path=ppt/slides/slide4.xml><?xml version="1.0" encoding="utf-8"?>
<p:sld xmlns:p="http://schemas.openxmlformats.org/presentationml/2006/main">
  <p:cSld>
    <p:bg>
      <p:bgPr>
        <a:solidFill xmlns:a="http://schemas.openxmlformats.org/drawingml/2006/main">
          <a:srgbClr val="121A3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F419305-0786-42BC-A45E-5B22DA88601A}"/>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4F8CFF"/>
                </a:solidFill>
                <a:latin typeface="Space Grotesk"/>
                <a:ea typeface="Space Grotesk"/>
                <a:cs typeface="Space Grotesk"/>
              </a:defRPr>
            </a:pPr>
            <a:r>
              <a:rPr sz="1200" b="1">
                <a:solidFill>
                  <a:srgbClr val="4F8CFF"/>
                </a:solidFill>
                <a:latin typeface="Space Grotesk"/>
                <a:ea typeface="Space Grotesk"/>
                <a:cs typeface="Space Grotesk"/>
              </a:rPr>
              <a:t>TRUSTLESS SETTLEMENT</a:t>
            </a:r>
          </a:p>
        </p:txBody>
      </p:sp>
      <p:sp>
        <p:nvSpPr>
          <p:cNvPr id="2" name="">
            <a:extLst xmlns:a="http://schemas.openxmlformats.org/drawingml/2006/main">
              <a:ext uri="{FF2B5EF4-FFF2-40B4-BE49-F238E27FC236}">
                <a16:creationId xmlns:a16="http://schemas.microsoft.com/office/drawing/2014/main" id="{F1C82C2F-FD03-43C2-8B22-FF42FB6BF18F}"/>
              </a:ext>
            </a:extLst>
          </p:cNvPr>
          <p:cNvSpPr>
            <a:spLocks xmlns:a="http://schemas.openxmlformats.org/drawingml/2006/main" noGrp="1"/>
          </p:cNvSpPr>
          <p:nvPr/>
        </p:nvSpPr>
        <p:spPr>
          <a:xfrm xmlns:a="http://schemas.openxmlformats.org/drawingml/2006/main">
            <a:off x="609600" y="800100"/>
            <a:ext cx="952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F4F7FF"/>
                </a:solidFill>
                <a:latin typeface="Space Grotesk"/>
                <a:ea typeface="Space Grotesk"/>
                <a:cs typeface="Space Grotesk"/>
              </a:defRPr>
            </a:pPr>
            <a:r>
              <a:rPr sz="3750" b="1">
                <a:solidFill>
                  <a:srgbClr val="F4F7FF"/>
                </a:solidFill>
                <a:latin typeface="Space Grotesk"/>
                <a:ea typeface="Space Grotesk"/>
                <a:cs typeface="Space Grotesk"/>
              </a:rPr>
              <a:t>The contract proves the result itself</a:t>
            </a:r>
          </a:p>
        </p:txBody>
      </p:sp>
      <p:sp>
        <p:nvSpPr>
          <p:cNvPr id="3" name="">
            <a:extLst xmlns:a="http://schemas.openxmlformats.org/drawingml/2006/main">
              <a:ext uri="{FF2B5EF4-FFF2-40B4-BE49-F238E27FC236}">
                <a16:creationId xmlns:a16="http://schemas.microsoft.com/office/drawing/2014/main" id="{6C4E9FFF-CA38-485B-B8BE-2779FB91EF93}"/>
              </a:ext>
            </a:extLst>
          </p:cNvPr>
          <p:cNvSpPr>
            <a:spLocks xmlns:a="http://schemas.openxmlformats.org/drawingml/2006/main" noGrp="1"/>
          </p:cNvSpPr>
          <p:nvPr/>
        </p:nvSpPr>
        <p:spPr>
          <a:xfrm xmlns:a="http://schemas.openxmlformats.org/drawingml/2006/main">
            <a:off x="2781300" y="3238500"/>
            <a:ext cx="495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0">
                <a:solidFill>
                  <a:srgbClr val="6F7C9B"/>
                </a:solidFill>
                <a:latin typeface="Space Grotesk"/>
                <a:ea typeface="Space Grotesk"/>
                <a:cs typeface="Space Grotesk"/>
              </a:defRPr>
            </a:pPr>
            <a:r>
              <a:rPr sz="3000" b="0">
                <a:solidFill>
                  <a:srgbClr val="6F7C9B"/>
                </a:solidFill>
                <a:latin typeface="Space Grotesk"/>
                <a:ea typeface="Space Grotesk"/>
                <a:cs typeface="Space Grotesk"/>
              </a:rPr>
              <a:t>→</a:t>
            </a:r>
          </a:p>
        </p:txBody>
      </p:sp>
      <p:sp>
        <p:nvSpPr>
          <p:cNvPr id="4" name="">
            <a:extLst xmlns:a="http://schemas.openxmlformats.org/drawingml/2006/main">
              <a:ext uri="{FF2B5EF4-FFF2-40B4-BE49-F238E27FC236}">
                <a16:creationId xmlns:a16="http://schemas.microsoft.com/office/drawing/2014/main" id="{4976F62E-BA28-440B-85FA-ADB74050F81E}"/>
              </a:ext>
            </a:extLst>
          </p:cNvPr>
          <p:cNvSpPr>
            <a:spLocks xmlns:a="http://schemas.openxmlformats.org/drawingml/2006/main" noGrp="1"/>
          </p:cNvSpPr>
          <p:nvPr/>
        </p:nvSpPr>
        <p:spPr>
          <a:xfrm xmlns:a="http://schemas.openxmlformats.org/drawingml/2006/main">
            <a:off x="5638800" y="3238500"/>
            <a:ext cx="495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0">
                <a:solidFill>
                  <a:srgbClr val="6F7C9B"/>
                </a:solidFill>
                <a:latin typeface="Space Grotesk"/>
                <a:ea typeface="Space Grotesk"/>
                <a:cs typeface="Space Grotesk"/>
              </a:defRPr>
            </a:pPr>
            <a:r>
              <a:rPr sz="3000" b="0">
                <a:solidFill>
                  <a:srgbClr val="6F7C9B"/>
                </a:solidFill>
                <a:latin typeface="Space Grotesk"/>
                <a:ea typeface="Space Grotesk"/>
                <a:cs typeface="Space Grotesk"/>
              </a:rPr>
              <a:t>→</a:t>
            </a:r>
          </a:p>
        </p:txBody>
      </p:sp>
      <p:sp>
        <p:nvSpPr>
          <p:cNvPr id="5" name="">
            <a:extLst xmlns:a="http://schemas.openxmlformats.org/drawingml/2006/main">
              <a:ext uri="{FF2B5EF4-FFF2-40B4-BE49-F238E27FC236}">
                <a16:creationId xmlns:a16="http://schemas.microsoft.com/office/drawing/2014/main" id="{B61FBE58-0670-475D-A6E0-CE7C9B5124EE}"/>
              </a:ext>
            </a:extLst>
          </p:cNvPr>
          <p:cNvSpPr>
            <a:spLocks xmlns:a="http://schemas.openxmlformats.org/drawingml/2006/main" noGrp="1"/>
          </p:cNvSpPr>
          <p:nvPr/>
        </p:nvSpPr>
        <p:spPr>
          <a:xfrm xmlns:a="http://schemas.openxmlformats.org/drawingml/2006/main">
            <a:off x="8496300" y="3238500"/>
            <a:ext cx="495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0">
                <a:solidFill>
                  <a:srgbClr val="6F7C9B"/>
                </a:solidFill>
                <a:latin typeface="Space Grotesk"/>
                <a:ea typeface="Space Grotesk"/>
                <a:cs typeface="Space Grotesk"/>
              </a:defRPr>
            </a:pPr>
            <a:r>
              <a:rPr sz="3000" b="0">
                <a:solidFill>
                  <a:srgbClr val="6F7C9B"/>
                </a:solidFill>
                <a:latin typeface="Space Grotesk"/>
                <a:ea typeface="Space Grotesk"/>
                <a:cs typeface="Space Grotesk"/>
              </a:rPr>
              <a:t>→</a:t>
            </a:r>
          </a:p>
        </p:txBody>
      </p:sp>
      <p:sp>
        <p:nvSpPr>
          <p:cNvPr id="6" name="">
            <a:extLst xmlns:a="http://schemas.openxmlformats.org/drawingml/2006/main">
              <a:ext uri="{FF2B5EF4-FFF2-40B4-BE49-F238E27FC236}">
                <a16:creationId xmlns:a16="http://schemas.microsoft.com/office/drawing/2014/main" id="{CEB92FFB-6BBF-4CB0-9C43-371259303CD3}"/>
              </a:ext>
            </a:extLst>
          </p:cNvPr>
          <p:cNvSpPr>
            <a:spLocks xmlns:a="http://schemas.openxmlformats.org/drawingml/2006/main" noGrp="1"/>
          </p:cNvSpPr>
          <p:nvPr/>
        </p:nvSpPr>
        <p:spPr>
          <a:xfrm xmlns:a="http://schemas.openxmlformats.org/drawingml/2006/main">
            <a:off x="514350" y="2571750"/>
            <a:ext cx="2190750" cy="1809750"/>
          </a:xfrm>
          <a:prstGeom xmlns:a="http://schemas.openxmlformats.org/drawingml/2006/main" prst="roundRect">
            <a:avLst>
              <a:gd name="adj" fmla="val 10526"/>
            </a:avLst>
          </a:prstGeom>
          <a:solidFill xmlns:a="http://schemas.openxmlformats.org/drawingml/2006/main">
            <a:srgbClr val="0B1020"/>
          </a:solidFill>
          <a:ln xmlns:a="http://schemas.openxmlformats.org/drawingml/2006/main" w="9525">
            <a:solidFill>
              <a:srgbClr val="2A385B"/>
            </a:solidFill>
            <a:prstDash val="solid"/>
          </a:ln>
        </p:spPr>
      </p:sp>
      <p:sp>
        <p:nvSpPr>
          <p:cNvPr id="7" name="">
            <a:extLst xmlns:a="http://schemas.openxmlformats.org/drawingml/2006/main">
              <a:ext uri="{FF2B5EF4-FFF2-40B4-BE49-F238E27FC236}">
                <a16:creationId xmlns:a16="http://schemas.microsoft.com/office/drawing/2014/main" id="{8F077DFA-F0DC-42A7-B12C-1F4D2056DE6E}"/>
              </a:ext>
            </a:extLst>
          </p:cNvPr>
          <p:cNvSpPr>
            <a:spLocks xmlns:a="http://schemas.openxmlformats.org/drawingml/2006/main" noGrp="1"/>
          </p:cNvSpPr>
          <p:nvPr/>
        </p:nvSpPr>
        <p:spPr>
          <a:xfrm xmlns:a="http://schemas.openxmlformats.org/drawingml/2006/main">
            <a:off x="742950" y="28956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F4F7FF"/>
                </a:solidFill>
                <a:latin typeface="Space Grotesk"/>
                <a:ea typeface="Space Grotesk"/>
                <a:cs typeface="Space Grotesk"/>
              </a:defRPr>
            </a:pPr>
            <a:r>
              <a:rPr sz="2025" b="1">
                <a:solidFill>
                  <a:srgbClr val="F4F7FF"/>
                </a:solidFill>
                <a:latin typeface="Space Grotesk"/>
                <a:ea typeface="Space Grotesk"/>
                <a:cs typeface="Space Grotesk"/>
              </a:rPr>
              <a:t>TxODDS</a:t>
            </a:r>
          </a:p>
        </p:txBody>
      </p:sp>
      <p:sp>
        <p:nvSpPr>
          <p:cNvPr id="8" name="">
            <a:extLst xmlns:a="http://schemas.openxmlformats.org/drawingml/2006/main">
              <a:ext uri="{FF2B5EF4-FFF2-40B4-BE49-F238E27FC236}">
                <a16:creationId xmlns:a16="http://schemas.microsoft.com/office/drawing/2014/main" id="{DD995F34-2EF4-47F3-A288-0C367E17B045}"/>
              </a:ext>
            </a:extLst>
          </p:cNvPr>
          <p:cNvSpPr>
            <a:spLocks xmlns:a="http://schemas.openxmlformats.org/drawingml/2006/main" noGrp="1"/>
          </p:cNvSpPr>
          <p:nvPr/>
        </p:nvSpPr>
        <p:spPr>
          <a:xfrm xmlns:a="http://schemas.openxmlformats.org/drawingml/2006/main">
            <a:off x="742950" y="3429000"/>
            <a:ext cx="1733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Final score</a:t>
            </a:r>
          </a:p>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and stats</a:t>
            </a:r>
          </a:p>
        </p:txBody>
      </p:sp>
      <p:sp>
        <p:nvSpPr>
          <p:cNvPr id="9" name="">
            <a:extLst xmlns:a="http://schemas.openxmlformats.org/drawingml/2006/main">
              <a:ext uri="{FF2B5EF4-FFF2-40B4-BE49-F238E27FC236}">
                <a16:creationId xmlns:a16="http://schemas.microsoft.com/office/drawing/2014/main" id="{6F7D33FA-EE9A-4278-8685-4650C1267CFD}"/>
              </a:ext>
            </a:extLst>
          </p:cNvPr>
          <p:cNvSpPr>
            <a:spLocks xmlns:a="http://schemas.openxmlformats.org/drawingml/2006/main" noGrp="1"/>
          </p:cNvSpPr>
          <p:nvPr/>
        </p:nvSpPr>
        <p:spPr>
          <a:xfrm xmlns:a="http://schemas.openxmlformats.org/drawingml/2006/main">
            <a:off x="3371850" y="2571750"/>
            <a:ext cx="2190750" cy="1809750"/>
          </a:xfrm>
          <a:prstGeom xmlns:a="http://schemas.openxmlformats.org/drawingml/2006/main" prst="roundRect">
            <a:avLst>
              <a:gd name="adj" fmla="val 10526"/>
            </a:avLst>
          </a:prstGeom>
          <a:solidFill xmlns:a="http://schemas.openxmlformats.org/drawingml/2006/main">
            <a:srgbClr val="0B1020"/>
          </a:solidFill>
          <a:ln xmlns:a="http://schemas.openxmlformats.org/drawingml/2006/main" w="9525">
            <a:solidFill>
              <a:srgbClr val="2A385B"/>
            </a:solidFill>
            <a:prstDash val="solid"/>
          </a:ln>
        </p:spPr>
      </p:sp>
      <p:sp>
        <p:nvSpPr>
          <p:cNvPr id="10" name="">
            <a:extLst xmlns:a="http://schemas.openxmlformats.org/drawingml/2006/main">
              <a:ext uri="{FF2B5EF4-FFF2-40B4-BE49-F238E27FC236}">
                <a16:creationId xmlns:a16="http://schemas.microsoft.com/office/drawing/2014/main" id="{9D7CDDFB-19F0-4346-BF0C-C02D0493DECD}"/>
              </a:ext>
            </a:extLst>
          </p:cNvPr>
          <p:cNvSpPr>
            <a:spLocks xmlns:a="http://schemas.openxmlformats.org/drawingml/2006/main" noGrp="1"/>
          </p:cNvSpPr>
          <p:nvPr/>
        </p:nvSpPr>
        <p:spPr>
          <a:xfrm xmlns:a="http://schemas.openxmlformats.org/drawingml/2006/main">
            <a:off x="3600450" y="28956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F4F7FF"/>
                </a:solidFill>
                <a:latin typeface="Space Grotesk"/>
                <a:ea typeface="Space Grotesk"/>
                <a:cs typeface="Space Grotesk"/>
              </a:defRPr>
            </a:pPr>
            <a:r>
              <a:rPr sz="2025" b="1">
                <a:solidFill>
                  <a:srgbClr val="F4F7FF"/>
                </a:solidFill>
                <a:latin typeface="Space Grotesk"/>
                <a:ea typeface="Space Grotesk"/>
                <a:cs typeface="Space Grotesk"/>
              </a:rPr>
              <a:t>Merkle proof</a:t>
            </a:r>
          </a:p>
        </p:txBody>
      </p:sp>
      <p:sp>
        <p:nvSpPr>
          <p:cNvPr id="11" name="">
            <a:extLst xmlns:a="http://schemas.openxmlformats.org/drawingml/2006/main">
              <a:ext uri="{FF2B5EF4-FFF2-40B4-BE49-F238E27FC236}">
                <a16:creationId xmlns:a16="http://schemas.microsoft.com/office/drawing/2014/main" id="{DBB45851-020D-4863-8F90-EACBB74165BA}"/>
              </a:ext>
            </a:extLst>
          </p:cNvPr>
          <p:cNvSpPr>
            <a:spLocks xmlns:a="http://schemas.openxmlformats.org/drawingml/2006/main" noGrp="1"/>
          </p:cNvSpPr>
          <p:nvPr/>
        </p:nvSpPr>
        <p:spPr>
          <a:xfrm xmlns:a="http://schemas.openxmlformats.org/drawingml/2006/main">
            <a:off x="3600450" y="3429000"/>
            <a:ext cx="1733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Timestamped</a:t>
            </a:r>
          </a:p>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on Solana</a:t>
            </a:r>
          </a:p>
        </p:txBody>
      </p:sp>
      <p:sp>
        <p:nvSpPr>
          <p:cNvPr id="12" name="">
            <a:extLst xmlns:a="http://schemas.openxmlformats.org/drawingml/2006/main">
              <a:ext uri="{FF2B5EF4-FFF2-40B4-BE49-F238E27FC236}">
                <a16:creationId xmlns:a16="http://schemas.microsoft.com/office/drawing/2014/main" id="{C2D5D7E8-2C4E-46C0-8703-1B395BDC87E6}"/>
              </a:ext>
            </a:extLst>
          </p:cNvPr>
          <p:cNvSpPr>
            <a:spLocks xmlns:a="http://schemas.openxmlformats.org/drawingml/2006/main" noGrp="1"/>
          </p:cNvSpPr>
          <p:nvPr/>
        </p:nvSpPr>
        <p:spPr>
          <a:xfrm xmlns:a="http://schemas.openxmlformats.org/drawingml/2006/main">
            <a:off x="6229350" y="2571750"/>
            <a:ext cx="2190750" cy="1809750"/>
          </a:xfrm>
          <a:prstGeom xmlns:a="http://schemas.openxmlformats.org/drawingml/2006/main" prst="roundRect">
            <a:avLst>
              <a:gd name="adj" fmla="val 10526"/>
            </a:avLst>
          </a:prstGeom>
          <a:solidFill xmlns:a="http://schemas.openxmlformats.org/drawingml/2006/main">
            <a:srgbClr val="1A2543"/>
          </a:solidFill>
          <a:ln xmlns:a="http://schemas.openxmlformats.org/drawingml/2006/main" w="9525">
            <a:solidFill>
              <a:srgbClr val="4F8CFF"/>
            </a:solidFill>
            <a:prstDash val="solid"/>
          </a:ln>
        </p:spPr>
      </p:sp>
      <p:sp>
        <p:nvSpPr>
          <p:cNvPr id="13" name="">
            <a:extLst xmlns:a="http://schemas.openxmlformats.org/drawingml/2006/main">
              <a:ext uri="{FF2B5EF4-FFF2-40B4-BE49-F238E27FC236}">
                <a16:creationId xmlns:a16="http://schemas.microsoft.com/office/drawing/2014/main" id="{0BF5E635-D514-4C5B-B124-94F142A916F9}"/>
              </a:ext>
            </a:extLst>
          </p:cNvPr>
          <p:cNvSpPr>
            <a:spLocks xmlns:a="http://schemas.openxmlformats.org/drawingml/2006/main" noGrp="1"/>
          </p:cNvSpPr>
          <p:nvPr/>
        </p:nvSpPr>
        <p:spPr>
          <a:xfrm xmlns:a="http://schemas.openxmlformats.org/drawingml/2006/main">
            <a:off x="6457950" y="28956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4F8CFF"/>
                </a:solidFill>
                <a:latin typeface="Space Grotesk"/>
                <a:ea typeface="Space Grotesk"/>
                <a:cs typeface="Space Grotesk"/>
              </a:defRPr>
            </a:pPr>
            <a:r>
              <a:rPr sz="2025" b="1">
                <a:solidFill>
                  <a:srgbClr val="4F8CFF"/>
                </a:solidFill>
                <a:latin typeface="Space Grotesk"/>
                <a:ea typeface="Space Grotesk"/>
                <a:cs typeface="Space Grotesk"/>
              </a:rPr>
              <a:t>Onside</a:t>
            </a:r>
          </a:p>
        </p:txBody>
      </p:sp>
      <p:sp>
        <p:nvSpPr>
          <p:cNvPr id="14" name="">
            <a:extLst xmlns:a="http://schemas.openxmlformats.org/drawingml/2006/main">
              <a:ext uri="{FF2B5EF4-FFF2-40B4-BE49-F238E27FC236}">
                <a16:creationId xmlns:a16="http://schemas.microsoft.com/office/drawing/2014/main" id="{A57BF8D1-54CE-4B05-A770-3C2F48A4E672}"/>
              </a:ext>
            </a:extLst>
          </p:cNvPr>
          <p:cNvSpPr>
            <a:spLocks xmlns:a="http://schemas.openxmlformats.org/drawingml/2006/main" noGrp="1"/>
          </p:cNvSpPr>
          <p:nvPr/>
        </p:nvSpPr>
        <p:spPr>
          <a:xfrm xmlns:a="http://schemas.openxmlformats.org/drawingml/2006/main">
            <a:off x="6457950" y="3429000"/>
            <a:ext cx="1733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CPI verifies</a:t>
            </a:r>
          </a:p>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the proof</a:t>
            </a:r>
          </a:p>
        </p:txBody>
      </p:sp>
      <p:sp>
        <p:nvSpPr>
          <p:cNvPr id="15" name="">
            <a:extLst xmlns:a="http://schemas.openxmlformats.org/drawingml/2006/main">
              <a:ext uri="{FF2B5EF4-FFF2-40B4-BE49-F238E27FC236}">
                <a16:creationId xmlns:a16="http://schemas.microsoft.com/office/drawing/2014/main" id="{48E8FF98-B0B9-460E-8B0C-C80EEFDF0460}"/>
              </a:ext>
            </a:extLst>
          </p:cNvPr>
          <p:cNvSpPr>
            <a:spLocks xmlns:a="http://schemas.openxmlformats.org/drawingml/2006/main" noGrp="1"/>
          </p:cNvSpPr>
          <p:nvPr/>
        </p:nvSpPr>
        <p:spPr>
          <a:xfrm xmlns:a="http://schemas.openxmlformats.org/drawingml/2006/main">
            <a:off x="9086850" y="2571750"/>
            <a:ext cx="2190750" cy="1809750"/>
          </a:xfrm>
          <a:prstGeom xmlns:a="http://schemas.openxmlformats.org/drawingml/2006/main" prst="roundRect">
            <a:avLst>
              <a:gd name="adj" fmla="val 10526"/>
            </a:avLst>
          </a:prstGeom>
          <a:solidFill xmlns:a="http://schemas.openxmlformats.org/drawingml/2006/main">
            <a:srgbClr val="0B1020"/>
          </a:solidFill>
          <a:ln xmlns:a="http://schemas.openxmlformats.org/drawingml/2006/main" w="9525">
            <a:solidFill>
              <a:srgbClr val="28C76F"/>
            </a:solidFill>
            <a:prstDash val="solid"/>
          </a:ln>
        </p:spPr>
      </p:sp>
      <p:sp>
        <p:nvSpPr>
          <p:cNvPr id="16" name="">
            <a:extLst xmlns:a="http://schemas.openxmlformats.org/drawingml/2006/main">
              <a:ext uri="{FF2B5EF4-FFF2-40B4-BE49-F238E27FC236}">
                <a16:creationId xmlns:a16="http://schemas.microsoft.com/office/drawing/2014/main" id="{614F9B00-2F6B-45AB-B3F9-EB31B0B3CF86}"/>
              </a:ext>
            </a:extLst>
          </p:cNvPr>
          <p:cNvSpPr>
            <a:spLocks xmlns:a="http://schemas.openxmlformats.org/drawingml/2006/main" noGrp="1"/>
          </p:cNvSpPr>
          <p:nvPr/>
        </p:nvSpPr>
        <p:spPr>
          <a:xfrm xmlns:a="http://schemas.openxmlformats.org/drawingml/2006/main">
            <a:off x="9315450" y="28956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28C76F"/>
                </a:solidFill>
                <a:latin typeface="Space Grotesk"/>
                <a:ea typeface="Space Grotesk"/>
                <a:cs typeface="Space Grotesk"/>
              </a:defRPr>
            </a:pPr>
            <a:r>
              <a:rPr sz="2025" b="1">
                <a:solidFill>
                  <a:srgbClr val="28C76F"/>
                </a:solidFill>
                <a:latin typeface="Space Grotesk"/>
                <a:ea typeface="Space Grotesk"/>
                <a:cs typeface="Space Grotesk"/>
              </a:rPr>
              <a:t>Outcome</a:t>
            </a:r>
          </a:p>
        </p:txBody>
      </p:sp>
      <p:sp>
        <p:nvSpPr>
          <p:cNvPr id="17" name="">
            <a:extLst xmlns:a="http://schemas.openxmlformats.org/drawingml/2006/main">
              <a:ext uri="{FF2B5EF4-FFF2-40B4-BE49-F238E27FC236}">
                <a16:creationId xmlns:a16="http://schemas.microsoft.com/office/drawing/2014/main" id="{55E02197-88EA-4551-9256-0AFAAE59BEE7}"/>
              </a:ext>
            </a:extLst>
          </p:cNvPr>
          <p:cNvSpPr>
            <a:spLocks xmlns:a="http://schemas.openxmlformats.org/drawingml/2006/main" noGrp="1"/>
          </p:cNvSpPr>
          <p:nvPr/>
        </p:nvSpPr>
        <p:spPr>
          <a:xfrm xmlns:a="http://schemas.openxmlformats.org/drawingml/2006/main">
            <a:off x="9315450" y="3429000"/>
            <a:ext cx="1733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Winner derived</a:t>
            </a:r>
          </a:p>
          <a:p xmlns:a="http://schemas.openxmlformats.org/drawingml/2006/main">
            <a:pPr algn="ctr">
              <a:defRPr sz="1575" b="0">
                <a:solidFill>
                  <a:srgbClr val="AAB5CF"/>
                </a:solidFill>
                <a:latin typeface="Space Grotesk"/>
                <a:ea typeface="Space Grotesk"/>
                <a:cs typeface="Space Grotesk"/>
              </a:defRPr>
            </a:pPr>
            <a:r>
              <a:rPr sz="1575" b="0">
                <a:solidFill>
                  <a:srgbClr val="AAB5CF"/>
                </a:solidFill>
                <a:latin typeface="Space Grotesk"/>
                <a:ea typeface="Space Grotesk"/>
                <a:cs typeface="Space Grotesk"/>
              </a:rPr>
              <a:t>on-chain</a:t>
            </a:r>
          </a:p>
        </p:txBody>
      </p:sp>
      <p:sp>
        <p:nvSpPr>
          <p:cNvPr id="18" name="">
            <a:extLst xmlns:a="http://schemas.openxmlformats.org/drawingml/2006/main">
              <a:ext uri="{FF2B5EF4-FFF2-40B4-BE49-F238E27FC236}">
                <a16:creationId xmlns:a16="http://schemas.microsoft.com/office/drawing/2014/main" id="{190C4F1A-6ED9-42F2-BB16-322B2B5F08BF}"/>
              </a:ext>
            </a:extLst>
          </p:cNvPr>
          <p:cNvSpPr>
            <a:spLocks xmlns:a="http://schemas.openxmlformats.org/drawingml/2006/main" noGrp="1"/>
          </p:cNvSpPr>
          <p:nvPr/>
        </p:nvSpPr>
        <p:spPr>
          <a:xfrm xmlns:a="http://schemas.openxmlformats.org/drawingml/2006/main">
            <a:off x="1714500" y="49530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F4F7FF"/>
                </a:solidFill>
                <a:latin typeface="Space Grotesk"/>
                <a:ea typeface="Space Grotesk"/>
                <a:cs typeface="Space Grotesk"/>
              </a:defRPr>
            </a:pPr>
            <a:r>
              <a:rPr sz="2250" b="1">
                <a:solidFill>
                  <a:srgbClr val="F4F7FF"/>
                </a:solidFill>
                <a:latin typeface="Space Grotesk"/>
                <a:ea typeface="Space Grotesk"/>
                <a:cs typeface="Space Grotesk"/>
              </a:rPr>
              <a:t>The keeper submits proof. It never chooses the winner.</a:t>
            </a:r>
          </a:p>
        </p:txBody>
      </p:sp>
      <p:sp>
        <p:nvSpPr>
          <p:cNvPr id="19" name="">
            <a:extLst xmlns:a="http://schemas.openxmlformats.org/drawingml/2006/main">
              <a:ext uri="{FF2B5EF4-FFF2-40B4-BE49-F238E27FC236}">
                <a16:creationId xmlns:a16="http://schemas.microsoft.com/office/drawing/2014/main" id="{E124376A-5368-4A55-B253-BC1375BEC128}"/>
              </a:ext>
            </a:extLst>
          </p:cNvPr>
          <p:cNvSpPr>
            <a:spLocks xmlns:a="http://schemas.openxmlformats.org/drawingml/2006/main" noGrp="1"/>
          </p:cNvSpPr>
          <p:nvPr/>
        </p:nvSpPr>
        <p:spPr>
          <a:xfrm xmlns:a="http://schemas.openxmlformats.org/drawingml/2006/main">
            <a:off x="609600" y="61531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F7C9B"/>
                </a:solidFill>
                <a:latin typeface="Space Grotesk"/>
                <a:ea typeface="Space Grotesk"/>
                <a:cs typeface="Space Grotesk"/>
              </a:defRPr>
            </a:pPr>
            <a:r>
              <a:rPr sz="1200" b="0">
                <a:solidFill>
                  <a:srgbClr val="6F7C9B"/>
                </a:solidFill>
                <a:latin typeface="Space Grotesk"/>
                <a:ea typeface="Space Grotesk"/>
                <a:cs typeface="Space Grotesk"/>
              </a:rPr>
              <a:t>Source: TxODDS TxLINE · txodds.net/our-products/tx-line</a:t>
            </a:r>
          </a:p>
        </p:txBody>
      </p:sp>
      <p:sp>
        <p:nvSpPr>
          <p:cNvPr id="20" name="">
            <a:extLst xmlns:a="http://schemas.openxmlformats.org/drawingml/2006/main">
              <a:ext uri="{FF2B5EF4-FFF2-40B4-BE49-F238E27FC236}">
                <a16:creationId xmlns:a16="http://schemas.microsoft.com/office/drawing/2014/main" id="{F087AD03-37E0-4AFE-93EA-1EDCB8FFC0C7}"/>
              </a:ext>
            </a:extLst>
          </p:cNvPr>
          <p:cNvSpPr>
            <a:spLocks xmlns:a="http://schemas.openxmlformats.org/drawingml/2006/main" noGrp="1"/>
          </p:cNvSpPr>
          <p:nvPr/>
        </p:nvSpPr>
        <p:spPr>
          <a:xfrm xmlns:a="http://schemas.openxmlformats.org/drawingml/2006/main">
            <a:off x="1123950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0">
                <a:solidFill>
                  <a:srgbClr val="6F7C9B"/>
                </a:solidFill>
                <a:latin typeface="JetBrains Mono"/>
                <a:ea typeface="JetBrains Mono"/>
                <a:cs typeface="JetBrains Mono"/>
              </a:defRPr>
            </a:pPr>
            <a:r>
              <a:rPr sz="1200" b="0">
                <a:solidFill>
                  <a:srgbClr val="6F7C9B"/>
                </a:solidFill>
                <a:latin typeface="JetBrains Mono"/>
                <a:ea typeface="JetBrains Mono"/>
                <a:cs typeface="JetBrains Mono"/>
              </a:rPr>
              <a:t>04</a:t>
            </a:r>
          </a:p>
        </p:txBody>
      </p:sp>
    </p:spTree>
    <p:extLst>
      <p:ext uri="{BB962C8B-B14F-4D97-AF65-F5344CB8AC3E}">
        <p14:creationId xmlns:p14="http://schemas.microsoft.com/office/powerpoint/2010/main" val="1684674219"/>
      </p:ext>
    </p:extLst>
  </p:cSld>
</p:sld>
</file>

<file path=ppt/slides/slide5.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9786B3-1888-4A70-A6BF-71D82AA637B8}"/>
              </a:ext>
            </a:extLst>
          </p:cNvPr>
          <p:cNvSpPr>
            <a:spLocks xmlns:a="http://schemas.openxmlformats.org/drawingml/2006/main" noGrp="1"/>
          </p:cNvSpPr>
          <p:nvPr/>
        </p:nvSpPr>
        <p:spPr>
          <a:xfrm xmlns:a="http://schemas.openxmlformats.org/drawingml/2006/main">
            <a:off x="685800" y="552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4F8CFF"/>
                </a:solidFill>
                <a:latin typeface="Space Grotesk"/>
                <a:ea typeface="Space Grotesk"/>
                <a:cs typeface="Space Grotesk"/>
              </a:defRPr>
            </a:pPr>
            <a:r>
              <a:rPr sz="1200" b="1">
                <a:solidFill>
                  <a:srgbClr val="4F8CFF"/>
                </a:solidFill>
                <a:latin typeface="Space Grotesk"/>
                <a:ea typeface="Space Grotesk"/>
                <a:cs typeface="Space Grotesk"/>
              </a:rPr>
              <a:t>BUILT END-TO-END ON DEVNET</a:t>
            </a:r>
          </a:p>
        </p:txBody>
      </p:sp>
      <p:sp>
        <p:nvSpPr>
          <p:cNvPr id="2" name="">
            <a:extLst xmlns:a="http://schemas.openxmlformats.org/drawingml/2006/main">
              <a:ext uri="{FF2B5EF4-FFF2-40B4-BE49-F238E27FC236}">
                <a16:creationId xmlns:a16="http://schemas.microsoft.com/office/drawing/2014/main" id="{C73308DD-147F-4634-9A4D-DCCA50937A2B}"/>
              </a:ext>
            </a:extLst>
          </p:cNvPr>
          <p:cNvSpPr>
            <a:spLocks xmlns:a="http://schemas.openxmlformats.org/drawingml/2006/main" noGrp="1"/>
          </p:cNvSpPr>
          <p:nvPr/>
        </p:nvSpPr>
        <p:spPr>
          <a:xfrm xmlns:a="http://schemas.openxmlformats.org/drawingml/2006/main">
            <a:off x="685800" y="1428750"/>
            <a:ext cx="8096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650" b="1">
                <a:solidFill>
                  <a:srgbClr val="F4F7FF"/>
                </a:solidFill>
                <a:latin typeface="Space Grotesk"/>
                <a:ea typeface="Space Grotesk"/>
                <a:cs typeface="Space Grotesk"/>
              </a:defRPr>
            </a:pPr>
            <a:r>
              <a:rPr sz="4650" b="1">
                <a:solidFill>
                  <a:srgbClr val="F4F7FF"/>
                </a:solidFill>
                <a:latin typeface="Space Grotesk"/>
                <a:ea typeface="Space Grotesk"/>
                <a:cs typeface="Space Grotesk"/>
              </a:rPr>
              <a:t>The result is proven,</a:t>
            </a:r>
          </a:p>
          <a:p xmlns:a="http://schemas.openxmlformats.org/drawingml/2006/main">
            <a:pPr algn="l">
              <a:defRPr sz="4650" b="1">
                <a:solidFill>
                  <a:srgbClr val="F4F7FF"/>
                </a:solidFill>
                <a:latin typeface="Space Grotesk"/>
                <a:ea typeface="Space Grotesk"/>
                <a:cs typeface="Space Grotesk"/>
              </a:defRPr>
            </a:pPr>
            <a:r>
              <a:rPr sz="4650" b="1">
                <a:solidFill>
                  <a:srgbClr val="F4F7FF"/>
                </a:solidFill>
                <a:latin typeface="Space Grotesk"/>
                <a:ea typeface="Space Grotesk"/>
                <a:cs typeface="Space Grotesk"/>
              </a:rPr>
              <a:t>not trusted.</a:t>
            </a:r>
          </a:p>
        </p:txBody>
      </p:sp>
      <p:sp>
        <p:nvSpPr>
          <p:cNvPr id="3" name="">
            <a:extLst xmlns:a="http://schemas.openxmlformats.org/drawingml/2006/main">
              <a:ext uri="{FF2B5EF4-FFF2-40B4-BE49-F238E27FC236}">
                <a16:creationId xmlns:a16="http://schemas.microsoft.com/office/drawing/2014/main" id="{FA333D28-DC5B-4F30-88AD-4322F25B0266}"/>
              </a:ext>
            </a:extLst>
          </p:cNvPr>
          <p:cNvSpPr>
            <a:spLocks xmlns:a="http://schemas.openxmlformats.org/drawingml/2006/main" noGrp="1"/>
          </p:cNvSpPr>
          <p:nvPr/>
        </p:nvSpPr>
        <p:spPr>
          <a:xfrm xmlns:a="http://schemas.openxmlformats.org/drawingml/2006/main">
            <a:off x="685800" y="37147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4F8CFF"/>
                </a:solidFill>
                <a:latin typeface="Space Grotesk"/>
                <a:ea typeface="Space Grotesk"/>
                <a:cs typeface="Space Grotesk"/>
              </a:defRPr>
            </a:pPr>
            <a:r>
              <a:rPr sz="2100" b="1">
                <a:solidFill>
                  <a:srgbClr val="4F8CFF"/>
                </a:solidFill>
                <a:latin typeface="Space Grotesk"/>
                <a:ea typeface="Space Grotesk"/>
                <a:cs typeface="Space Grotesk"/>
              </a:rPr>
              <a:t>Deployed</a:t>
            </a:r>
          </a:p>
        </p:txBody>
      </p:sp>
      <p:sp>
        <p:nvSpPr>
          <p:cNvPr id="4" name="">
            <a:extLst xmlns:a="http://schemas.openxmlformats.org/drawingml/2006/main">
              <a:ext uri="{FF2B5EF4-FFF2-40B4-BE49-F238E27FC236}">
                <a16:creationId xmlns:a16="http://schemas.microsoft.com/office/drawing/2014/main" id="{EF3360CA-2E81-49ED-91A6-0EC71D7E7843}"/>
              </a:ext>
            </a:extLst>
          </p:cNvPr>
          <p:cNvSpPr>
            <a:spLocks xmlns:a="http://schemas.openxmlformats.org/drawingml/2006/main" noGrp="1"/>
          </p:cNvSpPr>
          <p:nvPr/>
        </p:nvSpPr>
        <p:spPr>
          <a:xfrm xmlns:a="http://schemas.openxmlformats.org/drawingml/2006/main">
            <a:off x="685800" y="41338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AAB5CF"/>
                </a:solidFill>
                <a:latin typeface="Space Grotesk"/>
                <a:ea typeface="Space Grotesk"/>
                <a:cs typeface="Space Grotesk"/>
              </a:defRPr>
            </a:pPr>
            <a:r>
              <a:rPr sz="1650" b="0">
                <a:solidFill>
                  <a:srgbClr val="AAB5CF"/>
                </a:solidFill>
                <a:latin typeface="Space Grotesk"/>
                <a:ea typeface="Space Grotesk"/>
                <a:cs typeface="Space Grotesk"/>
              </a:rPr>
              <a:t>Anchor program</a:t>
            </a:r>
          </a:p>
        </p:txBody>
      </p:sp>
      <p:sp>
        <p:nvSpPr>
          <p:cNvPr id="5" name="">
            <a:extLst xmlns:a="http://schemas.openxmlformats.org/drawingml/2006/main">
              <a:ext uri="{FF2B5EF4-FFF2-40B4-BE49-F238E27FC236}">
                <a16:creationId xmlns:a16="http://schemas.microsoft.com/office/drawing/2014/main" id="{05D1F120-CE6A-4618-9FB3-6D24B107F3B5}"/>
              </a:ext>
            </a:extLst>
          </p:cNvPr>
          <p:cNvSpPr>
            <a:spLocks xmlns:a="http://schemas.openxmlformats.org/drawingml/2006/main" noGrp="1"/>
          </p:cNvSpPr>
          <p:nvPr/>
        </p:nvSpPr>
        <p:spPr>
          <a:xfrm xmlns:a="http://schemas.openxmlformats.org/drawingml/2006/main">
            <a:off x="4114800" y="37147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4F8CFF"/>
                </a:solidFill>
                <a:latin typeface="Space Grotesk"/>
                <a:ea typeface="Space Grotesk"/>
                <a:cs typeface="Space Grotesk"/>
              </a:defRPr>
            </a:pPr>
            <a:r>
              <a:rPr sz="2100" b="1">
                <a:solidFill>
                  <a:srgbClr val="4F8CFF"/>
                </a:solidFill>
                <a:latin typeface="Space Grotesk"/>
                <a:ea typeface="Space Grotesk"/>
                <a:cs typeface="Space Grotesk"/>
              </a:rPr>
              <a:t>Permissionless</a:t>
            </a:r>
          </a:p>
        </p:txBody>
      </p:sp>
      <p:sp>
        <p:nvSpPr>
          <p:cNvPr id="6" name="">
            <a:extLst xmlns:a="http://schemas.openxmlformats.org/drawingml/2006/main">
              <a:ext uri="{FF2B5EF4-FFF2-40B4-BE49-F238E27FC236}">
                <a16:creationId xmlns:a16="http://schemas.microsoft.com/office/drawing/2014/main" id="{0E3EC787-86B1-4810-8DB0-C6A5C7F071A4}"/>
              </a:ext>
            </a:extLst>
          </p:cNvPr>
          <p:cNvSpPr>
            <a:spLocks xmlns:a="http://schemas.openxmlformats.org/drawingml/2006/main" noGrp="1"/>
          </p:cNvSpPr>
          <p:nvPr/>
        </p:nvSpPr>
        <p:spPr>
          <a:xfrm xmlns:a="http://schemas.openxmlformats.org/drawingml/2006/main">
            <a:off x="4114800" y="41338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AAB5CF"/>
                </a:solidFill>
                <a:latin typeface="Space Grotesk"/>
                <a:ea typeface="Space Grotesk"/>
                <a:cs typeface="Space Grotesk"/>
              </a:defRPr>
            </a:pPr>
            <a:r>
              <a:rPr sz="1650" b="0">
                <a:solidFill>
                  <a:srgbClr val="AAB5CF"/>
                </a:solidFill>
                <a:latin typeface="Space Grotesk"/>
                <a:ea typeface="Space Grotesk"/>
                <a:cs typeface="Space Grotesk"/>
              </a:rPr>
              <a:t>proof submission</a:t>
            </a:r>
          </a:p>
        </p:txBody>
      </p:sp>
      <p:sp>
        <p:nvSpPr>
          <p:cNvPr id="7" name="">
            <a:extLst xmlns:a="http://schemas.openxmlformats.org/drawingml/2006/main">
              <a:ext uri="{FF2B5EF4-FFF2-40B4-BE49-F238E27FC236}">
                <a16:creationId xmlns:a16="http://schemas.microsoft.com/office/drawing/2014/main" id="{21FEF628-78A0-4E09-8CF3-197E1D4F7C75}"/>
              </a:ext>
            </a:extLst>
          </p:cNvPr>
          <p:cNvSpPr>
            <a:spLocks xmlns:a="http://schemas.openxmlformats.org/drawingml/2006/main" noGrp="1"/>
          </p:cNvSpPr>
          <p:nvPr/>
        </p:nvSpPr>
        <p:spPr>
          <a:xfrm xmlns:a="http://schemas.openxmlformats.org/drawingml/2006/main">
            <a:off x="7543800" y="37147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8C76F"/>
                </a:solidFill>
                <a:latin typeface="Space Grotesk"/>
                <a:ea typeface="Space Grotesk"/>
                <a:cs typeface="Space Grotesk"/>
              </a:defRPr>
            </a:pPr>
            <a:r>
              <a:rPr sz="2100" b="1">
                <a:solidFill>
                  <a:srgbClr val="28C76F"/>
                </a:solidFill>
                <a:latin typeface="Space Grotesk"/>
                <a:ea typeface="Space Grotesk"/>
                <a:cs typeface="Space Grotesk"/>
              </a:rPr>
              <a:t>Public</a:t>
            </a:r>
          </a:p>
        </p:txBody>
      </p:sp>
      <p:sp>
        <p:nvSpPr>
          <p:cNvPr id="8" name="">
            <a:extLst xmlns:a="http://schemas.openxmlformats.org/drawingml/2006/main">
              <a:ext uri="{FF2B5EF4-FFF2-40B4-BE49-F238E27FC236}">
                <a16:creationId xmlns:a16="http://schemas.microsoft.com/office/drawing/2014/main" id="{5C25A28D-488E-4A6E-B789-DDEF7693AA6B}"/>
              </a:ext>
            </a:extLst>
          </p:cNvPr>
          <p:cNvSpPr>
            <a:spLocks xmlns:a="http://schemas.openxmlformats.org/drawingml/2006/main" noGrp="1"/>
          </p:cNvSpPr>
          <p:nvPr/>
        </p:nvSpPr>
        <p:spPr>
          <a:xfrm xmlns:a="http://schemas.openxmlformats.org/drawingml/2006/main">
            <a:off x="7543800" y="41338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AAB5CF"/>
                </a:solidFill>
                <a:latin typeface="Space Grotesk"/>
                <a:ea typeface="Space Grotesk"/>
                <a:cs typeface="Space Grotesk"/>
              </a:defRPr>
            </a:pPr>
            <a:r>
              <a:rPr sz="1650" b="0">
                <a:solidFill>
                  <a:srgbClr val="AAB5CF"/>
                </a:solidFill>
                <a:latin typeface="Space Grotesk"/>
                <a:ea typeface="Space Grotesk"/>
                <a:cs typeface="Space Grotesk"/>
              </a:rPr>
              <a:t>settlement receipts</a:t>
            </a:r>
          </a:p>
        </p:txBody>
      </p:sp>
      <p:sp>
        <p:nvSpPr>
          <p:cNvPr id="9" name="">
            <a:extLst xmlns:a="http://schemas.openxmlformats.org/drawingml/2006/main">
              <a:ext uri="{FF2B5EF4-FFF2-40B4-BE49-F238E27FC236}">
                <a16:creationId xmlns:a16="http://schemas.microsoft.com/office/drawing/2014/main" id="{39A48912-2C03-48F6-8A2A-FFC740B96BD8}"/>
              </a:ext>
            </a:extLst>
          </p:cNvPr>
          <p:cNvSpPr>
            <a:spLocks xmlns:a="http://schemas.openxmlformats.org/drawingml/2006/main" noGrp="1"/>
          </p:cNvSpPr>
          <p:nvPr/>
        </p:nvSpPr>
        <p:spPr>
          <a:xfrm xmlns:a="http://schemas.openxmlformats.org/drawingml/2006/main">
            <a:off x="685800" y="521970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F4F7FF"/>
                </a:solidFill>
                <a:latin typeface="Space Grotesk"/>
                <a:ea typeface="Space Grotesk"/>
                <a:cs typeface="Space Grotesk"/>
              </a:defRPr>
            </a:pPr>
            <a:r>
              <a:rPr sz="1800" b="0">
                <a:solidFill>
                  <a:srgbClr val="F4F7FF"/>
                </a:solidFill>
                <a:latin typeface="Space Grotesk"/>
                <a:ea typeface="Space Grotesk"/>
                <a:cs typeface="Space Grotesk"/>
              </a:rPr>
              <a:t>Serhii Khara  ·  Ruslan Yakumenko</a:t>
            </a:r>
          </a:p>
        </p:txBody>
      </p:sp>
      <p:sp>
        <p:nvSpPr>
          <p:cNvPr id="10" name="">
            <a:extLst xmlns:a="http://schemas.openxmlformats.org/drawingml/2006/main">
              <a:ext uri="{FF2B5EF4-FFF2-40B4-BE49-F238E27FC236}">
                <a16:creationId xmlns:a16="http://schemas.microsoft.com/office/drawing/2014/main" id="{F9397F57-AC7D-4D77-82FC-50C3CE1E3CC4}"/>
              </a:ext>
            </a:extLst>
          </p:cNvPr>
          <p:cNvSpPr>
            <a:spLocks xmlns:a="http://schemas.openxmlformats.org/drawingml/2006/main" noGrp="1"/>
          </p:cNvSpPr>
          <p:nvPr/>
        </p:nvSpPr>
        <p:spPr>
          <a:xfrm xmlns:a="http://schemas.openxmlformats.org/drawingml/2006/main">
            <a:off x="685800" y="56197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F8CFF"/>
                </a:solidFill>
                <a:latin typeface="JetBrains Mono"/>
                <a:ea typeface="JetBrains Mono"/>
                <a:cs typeface="JetBrains Mono"/>
              </a:defRPr>
            </a:pPr>
            <a:r>
              <a:rPr sz="1350" b="0">
                <a:solidFill>
                  <a:srgbClr val="4F8CFF"/>
                </a:solidFill>
                <a:latin typeface="JetBrains Mono"/>
                <a:ea typeface="JetBrains Mono"/>
                <a:cs typeface="JetBrains Mono"/>
              </a:rPr>
              <a:t>web-seven-black-v94mn9a4vm.vercel.app</a:t>
            </a:r>
          </a:p>
        </p:txBody>
      </p:sp>
      <p:sp>
        <p:nvSpPr>
          <p:cNvPr id="11" name="">
            <a:extLst xmlns:a="http://schemas.openxmlformats.org/drawingml/2006/main">
              <a:ext uri="{FF2B5EF4-FFF2-40B4-BE49-F238E27FC236}">
                <a16:creationId xmlns:a16="http://schemas.microsoft.com/office/drawing/2014/main" id="{F849DE8E-0C54-4DFD-8348-A7BAAF9CEF27}"/>
              </a:ext>
            </a:extLst>
          </p:cNvPr>
          <p:cNvSpPr>
            <a:spLocks xmlns:a="http://schemas.openxmlformats.org/drawingml/2006/main" noGrp="1"/>
          </p:cNvSpPr>
          <p:nvPr/>
        </p:nvSpPr>
        <p:spPr>
          <a:xfrm xmlns:a="http://schemas.openxmlformats.org/drawingml/2006/main">
            <a:off x="7810500" y="56197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0">
                <a:solidFill>
                  <a:srgbClr val="6F7C9B"/>
                </a:solidFill>
                <a:latin typeface="JetBrains Mono"/>
                <a:ea typeface="JetBrains Mono"/>
                <a:cs typeface="JetBrains Mono"/>
              </a:defRPr>
            </a:pPr>
            <a:r>
              <a:rPr sz="1350" b="0">
                <a:solidFill>
                  <a:srgbClr val="6F7C9B"/>
                </a:solidFill>
                <a:latin typeface="JetBrains Mono"/>
                <a:ea typeface="JetBrains Mono"/>
                <a:cs typeface="JetBrains Mono"/>
              </a:rPr>
              <a:t>Program  6F6f…Epvb</a:t>
            </a:r>
          </a:p>
        </p:txBody>
      </p:sp>
      <p:sp>
        <p:nvSpPr>
          <p:cNvPr id="12" name="">
            <a:extLst xmlns:a="http://schemas.openxmlformats.org/drawingml/2006/main">
              <a:ext uri="{FF2B5EF4-FFF2-40B4-BE49-F238E27FC236}">
                <a16:creationId xmlns:a16="http://schemas.microsoft.com/office/drawing/2014/main" id="{FBAE9C74-444C-45A0-9E62-E581D6CEE04E}"/>
              </a:ext>
            </a:extLst>
          </p:cNvPr>
          <p:cNvSpPr>
            <a:spLocks xmlns:a="http://schemas.openxmlformats.org/drawingml/2006/main" noGrp="1"/>
          </p:cNvSpPr>
          <p:nvPr/>
        </p:nvSpPr>
        <p:spPr>
          <a:xfrm xmlns:a="http://schemas.openxmlformats.org/drawingml/2006/main">
            <a:off x="1123950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0">
                <a:solidFill>
                  <a:srgbClr val="6F7C9B"/>
                </a:solidFill>
                <a:latin typeface="JetBrains Mono"/>
                <a:ea typeface="JetBrains Mono"/>
                <a:cs typeface="JetBrains Mono"/>
              </a:defRPr>
            </a:pPr>
            <a:r>
              <a:rPr sz="1200" b="0">
                <a:solidFill>
                  <a:srgbClr val="6F7C9B"/>
                </a:solidFill>
                <a:latin typeface="JetBrains Mono"/>
                <a:ea typeface="JetBrains Mono"/>
                <a:cs typeface="JetBrains Mono"/>
              </a:rPr>
              <a:t>05</a:t>
            </a:r>
          </a:p>
        </p:txBody>
      </p:sp>
    </p:spTree>
    <p:extLst>
      <p:ext uri="{BB962C8B-B14F-4D97-AF65-F5344CB8AC3E}">
        <p14:creationId xmlns:p14="http://schemas.microsoft.com/office/powerpoint/2010/main" val="548728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2026-07-19T22:50:19.2290000Z</dcterms:created>
  <dcterms:modified xsi:type="dcterms:W3CDTF">2026-07-19T22:50:19.2290000Z</dcterms:modified>
</coreProperties>
</file>